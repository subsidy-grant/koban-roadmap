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7315200" cy="457200"/>
          </a:xfrm>
          <a:prstGeom prst="rect">
            <a:avLst/>
          </a:prstGeom>
          <a:noFill/>
        </p:spPr>
        <p:txBody>
          <a:bodyPr wrap="square" anchor="t" lIns="0" rIns="0" tIns="0" bIns="0">
            <a:spAutoFit/>
          </a:bodyPr>
          <a:lstStyle/>
          <a:p>
            <a:pPr algn="l">
              <a:lnSpc>
                <a:spcPct val="145000"/>
              </a:lnSpc>
              <a:spcAft>
                <a:spcPts val="600"/>
              </a:spcAft>
            </a:pPr>
            <a:r>
              <a:rPr sz="2200" b="1">
                <a:solidFill>
                  <a:srgbClr val="4E5F57"/>
                </a:solidFill>
                <a:latin typeface="Zen Kaku Gothic New"/>
                <a:ea typeface="Zen Kaku Gothic New"/>
                <a:cs typeface="Zen Kaku Gothic New"/>
              </a:rPr>
              <a:t>博太の</a:t>
            </a:r>
          </a:p>
        </p:txBody>
      </p:sp>
      <p:sp>
        <p:nvSpPr>
          <p:cNvPr id="4" name="TextBox 3"/>
          <p:cNvSpPr txBox="1"/>
          <p:nvPr/>
        </p:nvSpPr>
        <p:spPr>
          <a:xfrm>
            <a:off x="914400" y="1234440"/>
            <a:ext cx="10515600" cy="2194560"/>
          </a:xfrm>
          <a:prstGeom prst="rect">
            <a:avLst/>
          </a:prstGeom>
          <a:noFill/>
        </p:spPr>
        <p:txBody>
          <a:bodyPr wrap="square" anchor="t" lIns="0" rIns="0" tIns="0" bIns="0">
            <a:spAutoFit/>
          </a:bodyPr>
          <a:lstStyle/>
          <a:p>
            <a:pPr algn="l">
              <a:lnSpc>
                <a:spcPct val="100000"/>
              </a:lnSpc>
              <a:spcAft>
                <a:spcPts val="600"/>
              </a:spcAft>
            </a:pPr>
            <a:r>
              <a:rPr sz="11800" b="0">
                <a:solidFill>
                  <a:srgbClr val="1B2A24"/>
                </a:solidFill>
                <a:latin typeface="Dela Gothic One"/>
                <a:ea typeface="Dela Gothic One"/>
                <a:cs typeface="Dela Gothic One"/>
              </a:rPr>
              <a:t>麻雀</a:t>
            </a:r>
            <a:r>
              <a:rPr sz="11800" b="0">
                <a:solidFill>
                  <a:srgbClr val="1B2A24"/>
                </a:solidFill>
                <a:latin typeface="Dela Gothic One"/>
                <a:ea typeface="Dela Gothic One"/>
                <a:cs typeface="Dela Gothic One"/>
              </a:rPr>
              <a:t>再生工場</a:t>
            </a:r>
          </a:p>
        </p:txBody>
      </p:sp>
      <p:sp>
        <p:nvSpPr>
          <p:cNvPr id="5" name="TextBox 4"/>
          <p:cNvSpPr txBox="1"/>
          <p:nvPr/>
        </p:nvSpPr>
        <p:spPr>
          <a:xfrm>
            <a:off x="914400" y="3154680"/>
            <a:ext cx="2743200" cy="2011680"/>
          </a:xfrm>
          <a:prstGeom prst="rect">
            <a:avLst/>
          </a:prstGeom>
          <a:noFill/>
        </p:spPr>
        <p:txBody>
          <a:bodyPr wrap="square" anchor="t" lIns="0" rIns="0" tIns="0" bIns="0">
            <a:spAutoFit/>
          </a:bodyPr>
          <a:lstStyle/>
          <a:p>
            <a:pPr algn="l">
              <a:lnSpc>
                <a:spcPct val="100000"/>
              </a:lnSpc>
              <a:spcAft>
                <a:spcPts val="600"/>
              </a:spcAft>
            </a:pPr>
            <a:r>
              <a:rPr sz="15000" b="0">
                <a:solidFill>
                  <a:srgbClr val="C23B1E"/>
                </a:solidFill>
                <a:latin typeface="Dela Gothic One"/>
                <a:ea typeface="Dela Gothic One"/>
                <a:cs typeface="Dela Gothic One"/>
              </a:rPr>
              <a:t>2</a:t>
            </a:r>
          </a:p>
        </p:txBody>
      </p:sp>
      <p:sp>
        <p:nvSpPr>
          <p:cNvPr id="6" name="Rectangle 5"/>
          <p:cNvSpPr/>
          <p:nvPr/>
        </p:nvSpPr>
        <p:spPr>
          <a:xfrm>
            <a:off x="2514600" y="3749039"/>
            <a:ext cx="3017520" cy="1143000"/>
          </a:xfrm>
          <a:prstGeom prst="rect">
            <a:avLst/>
          </a:prstGeom>
          <a:solidFill>
            <a:srgbClr val="F5F1E6"/>
          </a:solidFill>
          <a:ln w="50800">
            <a:solidFill>
              <a:srgbClr val="C23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4600" y="3749039"/>
            <a:ext cx="3017520" cy="1143000"/>
          </a:xfrm>
          <a:prstGeom prst="rect">
            <a:avLst/>
          </a:prstGeom>
          <a:noFill/>
        </p:spPr>
        <p:txBody>
          <a:bodyPr wrap="square" anchor="ctr" lIns="0" rIns="0" tIns="0" bIns="0">
            <a:spAutoFit/>
          </a:bodyPr>
          <a:lstStyle/>
          <a:p>
            <a:pPr algn="ctr">
              <a:lnSpc>
                <a:spcPct val="100000"/>
              </a:lnSpc>
              <a:spcAft>
                <a:spcPts val="0"/>
              </a:spcAft>
            </a:pPr>
            <a:r>
              <a:rPr sz="5200" b="0">
                <a:solidFill>
                  <a:srgbClr val="C23B1E"/>
                </a:solidFill>
                <a:latin typeface="Dela Gothic One"/>
                <a:ea typeface="Dela Gothic One"/>
                <a:cs typeface="Dela Gothic One"/>
              </a:rPr>
              <a:t>副露編</a:t>
            </a:r>
          </a:p>
        </p:txBody>
      </p:sp>
      <p:sp>
        <p:nvSpPr>
          <p:cNvPr id="8" name="TextBox 7"/>
          <p:cNvSpPr txBox="1"/>
          <p:nvPr/>
        </p:nvSpPr>
        <p:spPr>
          <a:xfrm>
            <a:off x="914400" y="5897880"/>
            <a:ext cx="5486400" cy="365760"/>
          </a:xfrm>
          <a:prstGeom prst="rect">
            <a:avLst/>
          </a:prstGeom>
          <a:noFill/>
        </p:spPr>
        <p:txBody>
          <a:bodyPr wrap="square" anchor="t" lIns="0" rIns="0" tIns="0" bIns="0">
            <a:spAutoFit/>
          </a:bodyPr>
          <a:lstStyle/>
          <a:p>
            <a:pPr algn="l">
              <a:lnSpc>
                <a:spcPct val="145000"/>
              </a:lnSpc>
              <a:spcAft>
                <a:spcPts val="600"/>
              </a:spcAft>
            </a:pPr>
            <a:r>
              <a:rPr sz="1400" b="1">
                <a:solidFill>
                  <a:srgbClr val="4E5F57"/>
                </a:solidFill>
                <a:latin typeface="Zen Kaku Gothic New"/>
                <a:ea typeface="Zen Kaku Gothic New"/>
                <a:cs typeface="Zen Kaku Gothic New"/>
              </a:rPr>
              <a:t>有料講座</a:t>
            </a:r>
          </a:p>
        </p:txBody>
      </p:sp>
      <p:sp>
        <p:nvSpPr>
          <p:cNvPr id="9" name="Rounded Rectangle 8"/>
          <p:cNvSpPr/>
          <p:nvPr/>
        </p:nvSpPr>
        <p:spPr>
          <a:xfrm>
            <a:off x="7863840" y="5394960"/>
            <a:ext cx="566928" cy="768096"/>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0" y="6071616"/>
            <a:ext cx="566928"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5413248"/>
            <a:ext cx="566928" cy="658368"/>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東</a:t>
            </a:r>
          </a:p>
        </p:txBody>
      </p:sp>
      <p:sp>
        <p:nvSpPr>
          <p:cNvPr id="12" name="Rounded Rectangle 11"/>
          <p:cNvSpPr/>
          <p:nvPr/>
        </p:nvSpPr>
        <p:spPr>
          <a:xfrm>
            <a:off x="8485632" y="5394960"/>
            <a:ext cx="566928" cy="768096"/>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85632" y="6071616"/>
            <a:ext cx="566928"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85632" y="5413248"/>
            <a:ext cx="566928" cy="658368"/>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南</a:t>
            </a:r>
          </a:p>
        </p:txBody>
      </p:sp>
      <p:sp>
        <p:nvSpPr>
          <p:cNvPr id="15" name="Rounded Rectangle 14"/>
          <p:cNvSpPr/>
          <p:nvPr/>
        </p:nvSpPr>
        <p:spPr>
          <a:xfrm>
            <a:off x="9107424" y="5394960"/>
            <a:ext cx="566928" cy="768096"/>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07424" y="6071616"/>
            <a:ext cx="566928"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5413248"/>
            <a:ext cx="566928" cy="658368"/>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西</a:t>
            </a:r>
          </a:p>
        </p:txBody>
      </p:sp>
      <p:sp>
        <p:nvSpPr>
          <p:cNvPr id="18" name="Rounded Rectangle 17"/>
          <p:cNvSpPr/>
          <p:nvPr/>
        </p:nvSpPr>
        <p:spPr>
          <a:xfrm>
            <a:off x="9729215" y="5394960"/>
            <a:ext cx="566928" cy="768096"/>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29215" y="6071616"/>
            <a:ext cx="566928"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9215" y="5413248"/>
            <a:ext cx="566928" cy="658368"/>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北</a:t>
            </a:r>
          </a:p>
        </p:txBody>
      </p:sp>
      <p:sp>
        <p:nvSpPr>
          <p:cNvPr id="21" name="Rounded Rectangle 20"/>
          <p:cNvSpPr/>
          <p:nvPr/>
        </p:nvSpPr>
        <p:spPr>
          <a:xfrm>
            <a:off x="10351007" y="5394960"/>
            <a:ext cx="566928" cy="768096"/>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51007" y="6071616"/>
            <a:ext cx="566928"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51007" y="5413248"/>
            <a:ext cx="566928" cy="658368"/>
          </a:xfrm>
          <a:prstGeom prst="rect">
            <a:avLst/>
          </a:prstGeom>
          <a:noFill/>
        </p:spPr>
        <p:txBody>
          <a:bodyPr wrap="square" anchor="ctr" lIns="0" rIns="0" tIns="0" bIns="0">
            <a:spAutoFit/>
          </a:bodyPr>
          <a:lstStyle/>
          <a:p>
            <a:pPr algn="ctr">
              <a:lnSpc>
                <a:spcPct val="100000"/>
              </a:lnSpc>
              <a:spcAft>
                <a:spcPts val="0"/>
              </a:spcAft>
            </a:pPr>
            <a:r>
              <a:rPr sz="2600" b="0">
                <a:solidFill>
                  <a:srgbClr val="C23B1E"/>
                </a:solidFill>
                <a:latin typeface="Dela Gothic One"/>
                <a:ea typeface="Dela Gothic One"/>
                <a:cs typeface="Dela Gothic One"/>
              </a:rPr>
              <a:t>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640080"/>
            <a:ext cx="4572000" cy="822960"/>
          </a:xfrm>
          <a:prstGeom prst="rect">
            <a:avLst/>
          </a:prstGeom>
          <a:noFill/>
        </p:spPr>
        <p:txBody>
          <a:bodyPr wrap="square" anchor="t" lIns="0" rIns="0" tIns="0" bIns="0">
            <a:spAutoFit/>
          </a:bodyPr>
          <a:lstStyle/>
          <a:p>
            <a:pPr algn="l">
              <a:lnSpc>
                <a:spcPct val="145000"/>
              </a:lnSpc>
              <a:spcAft>
                <a:spcPts val="600"/>
              </a:spcAft>
            </a:pPr>
            <a:r>
              <a:rPr sz="4000" b="0">
                <a:solidFill>
                  <a:srgbClr val="C23B1E"/>
                </a:solidFill>
                <a:latin typeface="Dela Gothic One"/>
                <a:ea typeface="Dela Gothic One"/>
                <a:cs typeface="Dela Gothic One"/>
              </a:rPr>
              <a:t>始めに</a:t>
            </a:r>
          </a:p>
        </p:txBody>
      </p:sp>
      <p:sp>
        <p:nvSpPr>
          <p:cNvPr id="3" name="TextBox 2"/>
          <p:cNvSpPr txBox="1"/>
          <p:nvPr/>
        </p:nvSpPr>
        <p:spPr>
          <a:xfrm>
            <a:off x="822960" y="1737360"/>
            <a:ext cx="5760720" cy="3291840"/>
          </a:xfrm>
          <a:prstGeom prst="rect">
            <a:avLst/>
          </a:prstGeom>
          <a:noFill/>
        </p:spPr>
        <p:txBody>
          <a:bodyPr wrap="square" anchor="t" lIns="0" rIns="0" tIns="0" bIns="0">
            <a:spAutoFit/>
          </a:bodyPr>
          <a:lstStyle/>
          <a:p>
            <a:pPr algn="l">
              <a:lnSpc>
                <a:spcPct val="120000"/>
              </a:lnSpc>
              <a:spcAft>
                <a:spcPts val="0"/>
              </a:spcAft>
            </a:pPr>
            <a:r>
              <a:rPr sz="4400" b="0">
                <a:solidFill>
                  <a:srgbClr val="1B2A24"/>
                </a:solidFill>
                <a:latin typeface="Dela Gothic One"/>
                <a:ea typeface="Dela Gothic One"/>
                <a:cs typeface="Dela Gothic One"/>
              </a:rPr>
              <a:t>俺より上手くない</a:t>
            </a:r>
          </a:p>
          <a:p>
            <a:pPr algn="l">
              <a:lnSpc>
                <a:spcPct val="120000"/>
              </a:lnSpc>
              <a:spcAft>
                <a:spcPts val="0"/>
              </a:spcAft>
            </a:pPr>
            <a:r>
              <a:rPr sz="4400" b="0">
                <a:solidFill>
                  <a:srgbClr val="1B2A24"/>
                </a:solidFill>
                <a:latin typeface="Dela Gothic One"/>
                <a:ea typeface="Dela Gothic One"/>
                <a:cs typeface="Dela Gothic One"/>
              </a:rPr>
              <a:t>と思うなら、</a:t>
            </a:r>
          </a:p>
          <a:p>
            <a:pPr algn="l">
              <a:lnSpc>
                <a:spcPct val="120000"/>
              </a:lnSpc>
              <a:spcAft>
                <a:spcPts val="0"/>
              </a:spcAft>
            </a:pPr>
            <a:r>
              <a:rPr sz="4400" b="0">
                <a:solidFill>
                  <a:srgbClr val="C23B1E"/>
                </a:solidFill>
                <a:latin typeface="Dela Gothic One"/>
                <a:ea typeface="Dela Gothic One"/>
                <a:cs typeface="Dela Gothic One"/>
              </a:rPr>
              <a:t>面前でいけ。</a:t>
            </a:r>
          </a:p>
        </p:txBody>
      </p:sp>
      <p:sp>
        <p:nvSpPr>
          <p:cNvPr id="4" name="Rectangle 3"/>
          <p:cNvSpPr/>
          <p:nvPr/>
        </p:nvSpPr>
        <p:spPr>
          <a:xfrm>
            <a:off x="7040880" y="1737360"/>
            <a:ext cx="36576" cy="3840480"/>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0" y="1737360"/>
            <a:ext cx="4114800" cy="4206240"/>
          </a:xfrm>
          <a:prstGeom prst="rect">
            <a:avLst/>
          </a:prstGeom>
          <a:noFill/>
        </p:spPr>
        <p:txBody>
          <a:bodyPr wrap="square" anchor="t" lIns="0" rIns="0" tIns="0" bIns="0">
            <a:spAutoFit/>
          </a:bodyPr>
          <a:lstStyle/>
          <a:p>
            <a:pPr algn="l">
              <a:lnSpc>
                <a:spcPct val="160000"/>
              </a:lnSpc>
              <a:spcAft>
                <a:spcPts val="1000"/>
              </a:spcAft>
            </a:pPr>
            <a:r>
              <a:rPr sz="1700" b="0">
                <a:solidFill>
                  <a:srgbClr val="1B2A24"/>
                </a:solidFill>
                <a:latin typeface="Zen Kaku Gothic New"/>
                <a:ea typeface="Zen Kaku Gothic New"/>
                <a:cs typeface="Zen Kaku Gothic New"/>
              </a:rPr>
              <a:t>鳴き、副露は判断が非常に難しく、知識と経験と技術が必要。</a:t>
            </a:r>
          </a:p>
          <a:p>
            <a:pPr algn="l">
              <a:lnSpc>
                <a:spcPct val="160000"/>
              </a:lnSpc>
              <a:spcAft>
                <a:spcPts val="1000"/>
              </a:spcAft>
            </a:pPr>
            <a:r>
              <a:rPr sz="1700" b="0">
                <a:solidFill>
                  <a:srgbClr val="1B2A24"/>
                </a:solidFill>
                <a:latin typeface="Zen Kaku Gothic New"/>
                <a:ea typeface="Zen Kaku Gothic New"/>
                <a:cs typeface="Zen Kaku Gothic New"/>
              </a:rPr>
              <a:t>だからこそ、使いこなせる人は和了に近づくし、下手な人は放銃率が高くなるだけ。</a:t>
            </a:r>
          </a:p>
          <a:p>
            <a:pPr algn="l">
              <a:lnSpc>
                <a:spcPct val="160000"/>
              </a:lnSpc>
              <a:spcAft>
                <a:spcPts val="1000"/>
              </a:spcAft>
            </a:pPr>
            <a:r>
              <a:rPr sz="1700" b="0">
                <a:solidFill>
                  <a:srgbClr val="1B2A24"/>
                </a:solidFill>
                <a:latin typeface="Zen Kaku Gothic New"/>
                <a:ea typeface="Zen Kaku Gothic New"/>
                <a:cs typeface="Zen Kaku Gothic New"/>
              </a:rPr>
              <a:t>俺個人は直近ではむしろ鳴かないように意識している。</a:t>
            </a:r>
          </a:p>
          <a:p>
            <a:pPr algn="l">
              <a:lnSpc>
                <a:spcPct val="160000"/>
              </a:lnSpc>
              <a:spcAft>
                <a:spcPts val="1000"/>
              </a:spcAft>
            </a:pPr>
            <a:r>
              <a:rPr sz="1700" b="1">
                <a:solidFill>
                  <a:srgbClr val="1B2A24"/>
                </a:solidFill>
                <a:latin typeface="Zen Kaku Gothic New"/>
                <a:ea typeface="Zen Kaku Gothic New"/>
                <a:cs typeface="Zen Kaku Gothic New"/>
              </a:rPr>
              <a:t>俺より麻雀が上手くはないと感じているのであれば、面前主体でいくことをオススメする。</a:t>
            </a:r>
          </a:p>
        </p:txBody>
      </p:sp>
      <p:sp>
        <p:nvSpPr>
          <p:cNvPr id="6" name="TextBox 5"/>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822960"/>
            <a:ext cx="5486400" cy="2926080"/>
          </a:xfrm>
          <a:prstGeom prst="rect">
            <a:avLst/>
          </a:prstGeom>
          <a:noFill/>
        </p:spPr>
        <p:txBody>
          <a:bodyPr wrap="square" anchor="t" lIns="0" rIns="0" tIns="0" bIns="0">
            <a:spAutoFit/>
          </a:bodyPr>
          <a:lstStyle/>
          <a:p>
            <a:pPr algn="l">
              <a:lnSpc>
                <a:spcPct val="105000"/>
              </a:lnSpc>
              <a:spcAft>
                <a:spcPts val="0"/>
              </a:spcAft>
            </a:pPr>
            <a:r>
              <a:rPr sz="6400" b="0">
                <a:solidFill>
                  <a:srgbClr val="1B2A24"/>
                </a:solidFill>
                <a:latin typeface="Dela Gothic One"/>
                <a:ea typeface="Dela Gothic One"/>
                <a:cs typeface="Dela Gothic One"/>
              </a:rPr>
              <a:t>幻想を</a:t>
            </a:r>
          </a:p>
          <a:p>
            <a:pPr algn="l">
              <a:lnSpc>
                <a:spcPct val="105000"/>
              </a:lnSpc>
              <a:spcAft>
                <a:spcPts val="0"/>
              </a:spcAft>
            </a:pPr>
            <a:r>
              <a:rPr sz="6400" b="0">
                <a:solidFill>
                  <a:srgbClr val="1B2A24"/>
                </a:solidFill>
                <a:latin typeface="Dela Gothic One"/>
                <a:ea typeface="Dela Gothic One"/>
                <a:cs typeface="Dela Gothic One"/>
              </a:rPr>
              <a:t>捨てろ、</a:t>
            </a:r>
          </a:p>
          <a:p>
            <a:pPr algn="l">
              <a:lnSpc>
                <a:spcPct val="105000"/>
              </a:lnSpc>
              <a:spcAft>
                <a:spcPts val="0"/>
              </a:spcAft>
            </a:pPr>
            <a:r>
              <a:rPr sz="6400" b="0">
                <a:solidFill>
                  <a:srgbClr val="1B2A24"/>
                </a:solidFill>
                <a:latin typeface="Dela Gothic One"/>
                <a:ea typeface="Dela Gothic One"/>
                <a:cs typeface="Dela Gothic One"/>
              </a:rPr>
              <a:t>自我を</a:t>
            </a:r>
          </a:p>
          <a:p>
            <a:pPr algn="l">
              <a:lnSpc>
                <a:spcPct val="105000"/>
              </a:lnSpc>
              <a:spcAft>
                <a:spcPts val="0"/>
              </a:spcAft>
            </a:pPr>
            <a:r>
              <a:rPr sz="6400" b="0">
                <a:solidFill>
                  <a:srgbClr val="C23B1E"/>
                </a:solidFill>
                <a:latin typeface="Dela Gothic One"/>
                <a:ea typeface="Dela Gothic One"/>
                <a:cs typeface="Dela Gothic One"/>
              </a:rPr>
              <a:t>捨てろ。</a:t>
            </a:r>
          </a:p>
        </p:txBody>
      </p:sp>
      <p:sp>
        <p:nvSpPr>
          <p:cNvPr id="3" name="TextBox 2"/>
          <p:cNvSpPr txBox="1"/>
          <p:nvPr/>
        </p:nvSpPr>
        <p:spPr>
          <a:xfrm>
            <a:off x="6766560" y="868680"/>
            <a:ext cx="4754880" cy="5120640"/>
          </a:xfrm>
          <a:prstGeom prst="rect">
            <a:avLst/>
          </a:prstGeom>
          <a:noFill/>
        </p:spPr>
        <p:txBody>
          <a:bodyPr wrap="square" anchor="t" lIns="0" rIns="0" tIns="0" bIns="0">
            <a:spAutoFit/>
          </a:bodyPr>
          <a:lstStyle/>
          <a:p>
            <a:pPr algn="l">
              <a:lnSpc>
                <a:spcPct val="160000"/>
              </a:lnSpc>
              <a:spcAft>
                <a:spcPts val="1200"/>
              </a:spcAft>
            </a:pPr>
            <a:r>
              <a:rPr sz="1700" b="0">
                <a:solidFill>
                  <a:srgbClr val="1B2A24"/>
                </a:solidFill>
                <a:latin typeface="Zen Kaku Gothic New"/>
                <a:ea typeface="Zen Kaku Gothic New"/>
                <a:cs typeface="Zen Kaku Gothic New"/>
              </a:rPr>
              <a:t>鳴いて聴牌に近づける、一発消し、かわし手等々。それらをやれるほど、あなたはそんなに上手くない。</a:t>
            </a:r>
          </a:p>
          <a:p>
            <a:pPr algn="l">
              <a:lnSpc>
                <a:spcPct val="160000"/>
              </a:lnSpc>
              <a:spcAft>
                <a:spcPts val="1200"/>
              </a:spcAft>
            </a:pPr>
            <a:r>
              <a:rPr sz="1700" b="0">
                <a:solidFill>
                  <a:srgbClr val="1B2A24"/>
                </a:solidFill>
                <a:latin typeface="Zen Kaku Gothic New"/>
                <a:ea typeface="Zen Kaku Gothic New"/>
                <a:cs typeface="Zen Kaku Gothic New"/>
              </a:rPr>
              <a:t>牌理、牌効率、牌の安全度等々を理解していないヤツが副露しても、大怪我をするだけ。</a:t>
            </a:r>
          </a:p>
          <a:p>
            <a:pPr algn="l">
              <a:lnSpc>
                <a:spcPct val="160000"/>
              </a:lnSpc>
              <a:spcAft>
                <a:spcPts val="1200"/>
              </a:spcAft>
            </a:pPr>
            <a:r>
              <a:rPr sz="2400" b="1">
                <a:solidFill>
                  <a:srgbClr val="C23B1E"/>
                </a:solidFill>
                <a:latin typeface="Zen Kaku Gothic New"/>
                <a:ea typeface="Zen Kaku Gothic New"/>
                <a:cs typeface="Zen Kaku Gothic New"/>
              </a:rPr>
              <a:t>副露してあがれると思うな。</a:t>
            </a:r>
          </a:p>
          <a:p>
            <a:pPr algn="l">
              <a:lnSpc>
                <a:spcPct val="160000"/>
              </a:lnSpc>
              <a:spcAft>
                <a:spcPts val="1200"/>
              </a:spcAft>
            </a:pPr>
            <a:r>
              <a:rPr sz="1700" b="1">
                <a:solidFill>
                  <a:srgbClr val="1B2A24"/>
                </a:solidFill>
                <a:latin typeface="Zen Kaku Gothic New"/>
                <a:ea typeface="Zen Kaku Gothic New"/>
                <a:cs typeface="Zen Kaku Gothic New"/>
              </a:rPr>
              <a:t>自分の手で聴牌して、ツモれる形を作ることだけ考えろ！</a:t>
            </a:r>
          </a:p>
          <a:p>
            <a:pPr algn="l">
              <a:lnSpc>
                <a:spcPct val="160000"/>
              </a:lnSpc>
              <a:spcAft>
                <a:spcPts val="1200"/>
              </a:spcAft>
            </a:pPr>
            <a:r>
              <a:rPr sz="1700" b="1">
                <a:solidFill>
                  <a:srgbClr val="1B2A24"/>
                </a:solidFill>
                <a:latin typeface="Zen Kaku Gothic New"/>
                <a:ea typeface="Zen Kaku Gothic New"/>
                <a:cs typeface="Zen Kaku Gothic New"/>
              </a:rPr>
              <a:t>自分の中のセオリーは捨てろ！</a:t>
            </a:r>
          </a:p>
        </p:txBody>
      </p:sp>
      <p:sp>
        <p:nvSpPr>
          <p:cNvPr id="4" name="TextBox 3"/>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48640"/>
            <a:ext cx="10972800" cy="2194560"/>
          </a:xfrm>
          <a:prstGeom prst="rect">
            <a:avLst/>
          </a:prstGeom>
          <a:noFill/>
        </p:spPr>
        <p:txBody>
          <a:bodyPr wrap="square" anchor="t" lIns="0" rIns="0" tIns="0" bIns="0">
            <a:spAutoFit/>
          </a:bodyPr>
          <a:lstStyle/>
          <a:p>
            <a:pPr algn="l">
              <a:lnSpc>
                <a:spcPct val="100000"/>
              </a:lnSpc>
              <a:spcAft>
                <a:spcPts val="600"/>
              </a:spcAft>
            </a:pPr>
            <a:r>
              <a:rPr sz="13000" b="0">
                <a:solidFill>
                  <a:srgbClr val="C23B1E"/>
                </a:solidFill>
                <a:latin typeface="Dela Gothic One"/>
                <a:ea typeface="Dela Gothic One"/>
                <a:cs typeface="Dela Gothic One"/>
              </a:rPr>
              <a:t>鳴くな！</a:t>
            </a:r>
          </a:p>
        </p:txBody>
      </p:sp>
      <p:sp>
        <p:nvSpPr>
          <p:cNvPr id="3" name="TextBox 2"/>
          <p:cNvSpPr txBox="1"/>
          <p:nvPr/>
        </p:nvSpPr>
        <p:spPr>
          <a:xfrm>
            <a:off x="822960" y="2697480"/>
            <a:ext cx="10515600" cy="731520"/>
          </a:xfrm>
          <a:prstGeom prst="rect">
            <a:avLst/>
          </a:prstGeom>
          <a:noFill/>
        </p:spPr>
        <p:txBody>
          <a:bodyPr wrap="square" anchor="t" lIns="0" rIns="0" tIns="0" bIns="0">
            <a:spAutoFit/>
          </a:bodyPr>
          <a:lstStyle/>
          <a:p>
            <a:pPr algn="l">
              <a:lnSpc>
                <a:spcPct val="145000"/>
              </a:lnSpc>
              <a:spcAft>
                <a:spcPts val="600"/>
              </a:spcAft>
            </a:pPr>
            <a:r>
              <a:rPr sz="1800" b="0">
                <a:solidFill>
                  <a:srgbClr val="4E5F57"/>
                </a:solidFill>
                <a:latin typeface="Zen Kaku Gothic New"/>
                <a:ea typeface="Zen Kaku Gothic New"/>
                <a:cs typeface="Zen Kaku Gothic New"/>
              </a:rPr>
              <a:t>攻撃、守備ともに知識・技術・戦術がなく、いつも負け組になっているあなたは、以下の2つを実践していくべき。</a:t>
            </a:r>
          </a:p>
        </p:txBody>
      </p:sp>
      <p:sp>
        <p:nvSpPr>
          <p:cNvPr id="4" name="Rectangle 3"/>
          <p:cNvSpPr/>
          <p:nvPr/>
        </p:nvSpPr>
        <p:spPr>
          <a:xfrm>
            <a:off x="822960" y="3611880"/>
            <a:ext cx="5120640" cy="173736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11880"/>
            <a:ext cx="91440" cy="173736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3749039"/>
            <a:ext cx="4572000" cy="1463040"/>
          </a:xfrm>
          <a:prstGeom prst="rect">
            <a:avLst/>
          </a:prstGeom>
          <a:noFill/>
        </p:spPr>
        <p:txBody>
          <a:bodyPr wrap="square" anchor="ctr" lIns="0" rIns="0" tIns="0" bIns="0">
            <a:spAutoFit/>
          </a:bodyPr>
          <a:lstStyle/>
          <a:p>
            <a:pPr algn="l">
              <a:lnSpc>
                <a:spcPct val="120000"/>
              </a:lnSpc>
              <a:spcAft>
                <a:spcPts val="600"/>
              </a:spcAft>
            </a:pPr>
            <a:r>
              <a:rPr sz="2800" b="0">
                <a:solidFill>
                  <a:srgbClr val="C23B1E"/>
                </a:solidFill>
                <a:latin typeface="Dela Gothic One"/>
                <a:ea typeface="Dela Gothic One"/>
                <a:cs typeface="Dela Gothic One"/>
              </a:rPr>
              <a:t>① </a:t>
            </a:r>
            <a:r>
              <a:rPr sz="2400" b="0">
                <a:solidFill>
                  <a:srgbClr val="1B2A24"/>
                </a:solidFill>
                <a:latin typeface="Dela Gothic One"/>
                <a:ea typeface="Dela Gothic One"/>
                <a:cs typeface="Dela Gothic One"/>
              </a:rPr>
              <a:t>鳴いてはいけない</a:t>
            </a:r>
          </a:p>
        </p:txBody>
      </p:sp>
      <p:sp>
        <p:nvSpPr>
          <p:cNvPr id="7" name="Rectangle 6"/>
          <p:cNvSpPr/>
          <p:nvPr/>
        </p:nvSpPr>
        <p:spPr>
          <a:xfrm>
            <a:off x="6309360" y="3611880"/>
            <a:ext cx="5120640" cy="173736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0" y="3611880"/>
            <a:ext cx="91440" cy="173736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3749039"/>
            <a:ext cx="4572000" cy="1463040"/>
          </a:xfrm>
          <a:prstGeom prst="rect">
            <a:avLst/>
          </a:prstGeom>
          <a:noFill/>
        </p:spPr>
        <p:txBody>
          <a:bodyPr wrap="square" anchor="ctr" lIns="0" rIns="0" tIns="0" bIns="0">
            <a:spAutoFit/>
          </a:bodyPr>
          <a:lstStyle/>
          <a:p>
            <a:pPr algn="l">
              <a:lnSpc>
                <a:spcPct val="120000"/>
              </a:lnSpc>
              <a:spcAft>
                <a:spcPts val="600"/>
              </a:spcAft>
            </a:pPr>
            <a:r>
              <a:rPr sz="2800" b="0">
                <a:solidFill>
                  <a:srgbClr val="C23B1E"/>
                </a:solidFill>
                <a:latin typeface="Dela Gothic One"/>
                <a:ea typeface="Dela Gothic One"/>
                <a:cs typeface="Dela Gothic One"/>
              </a:rPr>
              <a:t>② </a:t>
            </a:r>
            <a:r>
              <a:rPr sz="2400" b="0">
                <a:solidFill>
                  <a:srgbClr val="1B2A24"/>
                </a:solidFill>
                <a:latin typeface="Dela Gothic One"/>
                <a:ea typeface="Dela Gothic One"/>
                <a:cs typeface="Dela Gothic One"/>
              </a:rPr>
              <a:t>面前でリーチをかけていく</a:t>
            </a:r>
          </a:p>
        </p:txBody>
      </p:sp>
      <p:sp>
        <p:nvSpPr>
          <p:cNvPr id="10" name="TextBox 9"/>
          <p:cNvSpPr txBox="1"/>
          <p:nvPr/>
        </p:nvSpPr>
        <p:spPr>
          <a:xfrm>
            <a:off x="822960" y="5715000"/>
            <a:ext cx="5486400" cy="548640"/>
          </a:xfrm>
          <a:prstGeom prst="rect">
            <a:avLst/>
          </a:prstGeom>
          <a:noFill/>
        </p:spPr>
        <p:txBody>
          <a:bodyPr wrap="square" anchor="t" lIns="0" rIns="0" tIns="0" bIns="0">
            <a:spAutoFit/>
          </a:bodyPr>
          <a:lstStyle/>
          <a:p>
            <a:pPr algn="l">
              <a:lnSpc>
                <a:spcPct val="145000"/>
              </a:lnSpc>
              <a:spcAft>
                <a:spcPts val="600"/>
              </a:spcAft>
            </a:pPr>
            <a:r>
              <a:rPr sz="2600" b="0">
                <a:solidFill>
                  <a:srgbClr val="4E5F57"/>
                </a:solidFill>
                <a:latin typeface="Dela Gothic One"/>
                <a:ea typeface="Dela Gothic One"/>
                <a:cs typeface="Dela Gothic One"/>
              </a:rPr>
              <a:t>なぜか　→</a:t>
            </a:r>
          </a:p>
        </p:txBody>
      </p:sp>
      <p:sp>
        <p:nvSpPr>
          <p:cNvPr id="11" name="TextBox 10"/>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48640"/>
            <a:ext cx="10972800" cy="1097280"/>
          </a:xfrm>
          <a:prstGeom prst="rect">
            <a:avLst/>
          </a:prstGeom>
          <a:noFill/>
        </p:spPr>
        <p:txBody>
          <a:bodyPr wrap="square" anchor="t" lIns="0" rIns="0" tIns="0" bIns="0">
            <a:spAutoFit/>
          </a:bodyPr>
          <a:lstStyle/>
          <a:p>
            <a:pPr algn="l">
              <a:lnSpc>
                <a:spcPct val="145000"/>
              </a:lnSpc>
              <a:spcAft>
                <a:spcPts val="600"/>
              </a:spcAft>
            </a:pPr>
            <a:r>
              <a:rPr sz="4000" b="0">
                <a:solidFill>
                  <a:srgbClr val="C23B1E"/>
                </a:solidFill>
                <a:latin typeface="Dela Gothic One"/>
                <a:ea typeface="Dela Gothic One"/>
                <a:cs typeface="Dela Gothic One"/>
              </a:rPr>
              <a:t>鳴くな！</a:t>
            </a:r>
            <a:r>
              <a:rPr sz="4000" b="0">
                <a:solidFill>
                  <a:srgbClr val="1B2A24"/>
                </a:solidFill>
                <a:latin typeface="Dela Gothic One"/>
                <a:ea typeface="Dela Gothic One"/>
                <a:cs typeface="Dela Gothic One"/>
              </a:rPr>
              <a:t>　デメリット編</a:t>
            </a:r>
          </a:p>
        </p:txBody>
      </p:sp>
      <p:sp>
        <p:nvSpPr>
          <p:cNvPr id="3" name="TextBox 2"/>
          <p:cNvSpPr txBox="1"/>
          <p:nvPr/>
        </p:nvSpPr>
        <p:spPr>
          <a:xfrm>
            <a:off x="822960" y="1325880"/>
            <a:ext cx="10972800" cy="45720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鳴くと失うもの</a:t>
            </a:r>
          </a:p>
        </p:txBody>
      </p:sp>
      <p:sp>
        <p:nvSpPr>
          <p:cNvPr id="4" name="Rectangle 3"/>
          <p:cNvSpPr/>
          <p:nvPr/>
        </p:nvSpPr>
        <p:spPr>
          <a:xfrm>
            <a:off x="822960" y="1965960"/>
            <a:ext cx="10515600" cy="27432"/>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5120640" cy="1097280"/>
          </a:xfrm>
          <a:prstGeom prst="rect">
            <a:avLst/>
          </a:prstGeom>
          <a:noFill/>
        </p:spPr>
        <p:txBody>
          <a:bodyPr wrap="square" anchor="t" lIns="0" rIns="0" tIns="0" bIns="0">
            <a:spAutoFit/>
          </a:bodyPr>
          <a:lstStyle/>
          <a:p>
            <a:pPr algn="l">
              <a:lnSpc>
                <a:spcPct val="140000"/>
              </a:lnSpc>
              <a:spcAft>
                <a:spcPts val="200"/>
              </a:spcAft>
            </a:pPr>
            <a:r>
              <a:rPr sz="2100" b="1">
                <a:solidFill>
                  <a:srgbClr val="1B2A24"/>
                </a:solidFill>
                <a:latin typeface="Zen Kaku Gothic New"/>
                <a:ea typeface="Zen Kaku Gothic New"/>
                <a:cs typeface="Zen Kaku Gothic New"/>
              </a:rPr>
              <a:t>安全牌を持ちながらの進行が難しくなる</a:t>
            </a:r>
          </a:p>
          <a:p>
            <a:pPr algn="l">
              <a:lnSpc>
                <a:spcPct val="140000"/>
              </a:lnSpc>
              <a:spcAft>
                <a:spcPts val="200"/>
              </a:spcAft>
            </a:pPr>
            <a:r>
              <a:rPr sz="1400" b="0">
                <a:solidFill>
                  <a:srgbClr val="4E5F57"/>
                </a:solidFill>
                <a:latin typeface="Zen Kaku Gothic New"/>
                <a:ea typeface="Zen Kaku Gothic New"/>
                <a:cs typeface="Zen Kaku Gothic New"/>
              </a:rPr>
              <a:t>Mリーガーの手牌進行をみると、安全牌を抱えて進めているのがよくわかる</a:t>
            </a:r>
          </a:p>
        </p:txBody>
      </p:sp>
      <p:sp>
        <p:nvSpPr>
          <p:cNvPr id="6" name="TextBox 5"/>
          <p:cNvSpPr txBox="1"/>
          <p:nvPr/>
        </p:nvSpPr>
        <p:spPr>
          <a:xfrm>
            <a:off x="6217920" y="2148840"/>
            <a:ext cx="5120640" cy="1097280"/>
          </a:xfrm>
          <a:prstGeom prst="rect">
            <a:avLst/>
          </a:prstGeom>
          <a:noFill/>
        </p:spPr>
        <p:txBody>
          <a:bodyPr wrap="square" anchor="t" lIns="0" rIns="0" tIns="0" bIns="0">
            <a:spAutoFit/>
          </a:bodyPr>
          <a:lstStyle/>
          <a:p>
            <a:pPr algn="l">
              <a:lnSpc>
                <a:spcPct val="140000"/>
              </a:lnSpc>
              <a:spcAft>
                <a:spcPts val="600"/>
              </a:spcAft>
            </a:pPr>
            <a:r>
              <a:rPr sz="2100" b="1">
                <a:solidFill>
                  <a:srgbClr val="C23B1E"/>
                </a:solidFill>
                <a:latin typeface="Zen Kaku Gothic New"/>
                <a:ea typeface="Zen Kaku Gothic New"/>
                <a:cs typeface="Zen Kaku Gothic New"/>
              </a:rPr>
              <a:t>→  </a:t>
            </a:r>
            <a:r>
              <a:rPr sz="1900" b="1">
                <a:solidFill>
                  <a:srgbClr val="C23B1E"/>
                </a:solidFill>
                <a:latin typeface="Zen Kaku Gothic New"/>
                <a:ea typeface="Zen Kaku Gothic New"/>
                <a:cs typeface="Zen Kaku Gothic New"/>
              </a:rPr>
              <a:t>守備力低下、放銃率の上昇</a:t>
            </a:r>
          </a:p>
        </p:txBody>
      </p:sp>
      <p:sp>
        <p:nvSpPr>
          <p:cNvPr id="7" name="Rectangle 6"/>
          <p:cNvSpPr/>
          <p:nvPr/>
        </p:nvSpPr>
        <p:spPr>
          <a:xfrm>
            <a:off x="822960" y="3291839"/>
            <a:ext cx="10515600" cy="27432"/>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5120640" cy="1097280"/>
          </a:xfrm>
          <a:prstGeom prst="rect">
            <a:avLst/>
          </a:prstGeom>
          <a:noFill/>
        </p:spPr>
        <p:txBody>
          <a:bodyPr wrap="square" anchor="t" lIns="0" rIns="0" tIns="0" bIns="0">
            <a:spAutoFit/>
          </a:bodyPr>
          <a:lstStyle/>
          <a:p>
            <a:pPr algn="l">
              <a:lnSpc>
                <a:spcPct val="140000"/>
              </a:lnSpc>
              <a:spcAft>
                <a:spcPts val="200"/>
              </a:spcAft>
            </a:pPr>
            <a:r>
              <a:rPr sz="2100" b="1">
                <a:solidFill>
                  <a:srgbClr val="1B2A24"/>
                </a:solidFill>
                <a:latin typeface="Zen Kaku Gothic New"/>
                <a:ea typeface="Zen Kaku Gothic New"/>
                <a:cs typeface="Zen Kaku Gothic New"/>
              </a:rPr>
              <a:t>打点が上昇しづらくなる</a:t>
            </a:r>
          </a:p>
        </p:txBody>
      </p:sp>
      <p:sp>
        <p:nvSpPr>
          <p:cNvPr id="9" name="TextBox 8"/>
          <p:cNvSpPr txBox="1"/>
          <p:nvPr/>
        </p:nvSpPr>
        <p:spPr>
          <a:xfrm>
            <a:off x="6217920" y="3474720"/>
            <a:ext cx="5120640" cy="1097280"/>
          </a:xfrm>
          <a:prstGeom prst="rect">
            <a:avLst/>
          </a:prstGeom>
          <a:noFill/>
        </p:spPr>
        <p:txBody>
          <a:bodyPr wrap="square" anchor="t" lIns="0" rIns="0" tIns="0" bIns="0">
            <a:spAutoFit/>
          </a:bodyPr>
          <a:lstStyle/>
          <a:p>
            <a:pPr algn="l">
              <a:lnSpc>
                <a:spcPct val="140000"/>
              </a:lnSpc>
              <a:spcAft>
                <a:spcPts val="600"/>
              </a:spcAft>
            </a:pPr>
            <a:r>
              <a:rPr sz="2100" b="1">
                <a:solidFill>
                  <a:srgbClr val="C23B1E"/>
                </a:solidFill>
                <a:latin typeface="Zen Kaku Gothic New"/>
                <a:ea typeface="Zen Kaku Gothic New"/>
                <a:cs typeface="Zen Kaku Gothic New"/>
              </a:rPr>
              <a:t>→  </a:t>
            </a:r>
            <a:r>
              <a:rPr sz="1900" b="1">
                <a:solidFill>
                  <a:srgbClr val="C23B1E"/>
                </a:solidFill>
                <a:latin typeface="Zen Kaku Gothic New"/>
                <a:ea typeface="Zen Kaku Gothic New"/>
                <a:cs typeface="Zen Kaku Gothic New"/>
              </a:rPr>
              <a:t>リーチの役と裏ドラを放棄することになる</a:t>
            </a:r>
          </a:p>
        </p:txBody>
      </p:sp>
      <p:sp>
        <p:nvSpPr>
          <p:cNvPr id="10" name="Rectangle 9"/>
          <p:cNvSpPr/>
          <p:nvPr/>
        </p:nvSpPr>
        <p:spPr>
          <a:xfrm>
            <a:off x="822960" y="4754880"/>
            <a:ext cx="10515600" cy="132588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4754880"/>
            <a:ext cx="91440" cy="132588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754880"/>
            <a:ext cx="1463040" cy="1325880"/>
          </a:xfrm>
          <a:prstGeom prst="rect">
            <a:avLst/>
          </a:prstGeom>
          <a:noFill/>
        </p:spPr>
        <p:txBody>
          <a:bodyPr wrap="square" anchor="ctr" lIns="0" rIns="0" tIns="0" bIns="0">
            <a:spAutoFit/>
          </a:bodyPr>
          <a:lstStyle/>
          <a:p>
            <a:pPr algn="l">
              <a:lnSpc>
                <a:spcPct val="145000"/>
              </a:lnSpc>
              <a:spcAft>
                <a:spcPts val="600"/>
              </a:spcAft>
            </a:pPr>
            <a:r>
              <a:rPr sz="2600" b="0">
                <a:solidFill>
                  <a:srgbClr val="C23B1E"/>
                </a:solidFill>
                <a:latin typeface="Dela Gothic One"/>
                <a:ea typeface="Dela Gothic One"/>
                <a:cs typeface="Dela Gothic One"/>
              </a:rPr>
              <a:t>結論</a:t>
            </a:r>
          </a:p>
        </p:txBody>
      </p:sp>
      <p:sp>
        <p:nvSpPr>
          <p:cNvPr id="13" name="TextBox 12"/>
          <p:cNvSpPr txBox="1"/>
          <p:nvPr/>
        </p:nvSpPr>
        <p:spPr>
          <a:xfrm>
            <a:off x="2468880" y="4754880"/>
            <a:ext cx="8686800" cy="1325880"/>
          </a:xfrm>
          <a:prstGeom prst="rect">
            <a:avLst/>
          </a:prstGeom>
          <a:noFill/>
        </p:spPr>
        <p:txBody>
          <a:bodyPr wrap="square" anchor="ctr" lIns="0" rIns="0" tIns="0" bIns="0">
            <a:spAutoFit/>
          </a:bodyPr>
          <a:lstStyle/>
          <a:p>
            <a:pPr algn="l">
              <a:lnSpc>
                <a:spcPct val="145000"/>
              </a:lnSpc>
              <a:spcAft>
                <a:spcPts val="200"/>
              </a:spcAft>
            </a:pPr>
            <a:r>
              <a:rPr sz="1700" b="0">
                <a:solidFill>
                  <a:srgbClr val="1B2A24"/>
                </a:solidFill>
                <a:latin typeface="Zen Kaku Gothic New"/>
                <a:ea typeface="Zen Kaku Gothic New"/>
                <a:cs typeface="Zen Kaku Gothic New"/>
              </a:rPr>
              <a:t>守備力低下に見合う打点があれば鳴いてもいいが、その判断ができないうちはデメリットが大きいので</a:t>
            </a:r>
          </a:p>
          <a:p>
            <a:pPr algn="l">
              <a:lnSpc>
                <a:spcPct val="145000"/>
              </a:lnSpc>
              <a:spcAft>
                <a:spcPts val="200"/>
              </a:spcAft>
            </a:pPr>
            <a:r>
              <a:rPr sz="2000" b="1">
                <a:solidFill>
                  <a:srgbClr val="C23B1E"/>
                </a:solidFill>
                <a:latin typeface="Zen Kaku Gothic New"/>
                <a:ea typeface="Zen Kaku Gothic New"/>
                <a:cs typeface="Zen Kaku Gothic New"/>
              </a:rPr>
              <a:t>鳴くな！（あなたのことです！）</a:t>
            </a:r>
          </a:p>
        </p:txBody>
      </p:sp>
      <p:sp>
        <p:nvSpPr>
          <p:cNvPr id="14" name="TextBox 13"/>
          <p:cNvSpPr txBox="1"/>
          <p:nvPr/>
        </p:nvSpPr>
        <p:spPr>
          <a:xfrm>
            <a:off x="822960" y="6217920"/>
            <a:ext cx="8229600" cy="320040"/>
          </a:xfrm>
          <a:prstGeom prst="rect">
            <a:avLst/>
          </a:prstGeom>
          <a:noFill/>
        </p:spPr>
        <p:txBody>
          <a:bodyPr wrap="square" anchor="t" lIns="0" rIns="0" tIns="0" bIns="0">
            <a:spAutoFit/>
          </a:bodyPr>
          <a:lstStyle/>
          <a:p>
            <a:pPr algn="l">
              <a:lnSpc>
                <a:spcPct val="145000"/>
              </a:lnSpc>
              <a:spcAft>
                <a:spcPts val="600"/>
              </a:spcAft>
            </a:pPr>
            <a:r>
              <a:rPr sz="1200" b="0">
                <a:solidFill>
                  <a:srgbClr val="4E5F57"/>
                </a:solidFill>
                <a:latin typeface="Zen Kaku Gothic New"/>
                <a:ea typeface="Zen Kaku Gothic New"/>
                <a:cs typeface="Zen Kaku Gothic New"/>
              </a:rPr>
              <a:t>ちなみに、なぜ安全牌を持ちながら進行していくと良いのかは、また別料金。</a:t>
            </a:r>
          </a:p>
        </p:txBody>
      </p:sp>
      <p:sp>
        <p:nvSpPr>
          <p:cNvPr id="15" name="TextBox 14"/>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48640"/>
            <a:ext cx="10972800" cy="1097280"/>
          </a:xfrm>
          <a:prstGeom prst="rect">
            <a:avLst/>
          </a:prstGeom>
          <a:noFill/>
        </p:spPr>
        <p:txBody>
          <a:bodyPr wrap="square" anchor="t" lIns="0" rIns="0" tIns="0" bIns="0">
            <a:spAutoFit/>
          </a:bodyPr>
          <a:lstStyle/>
          <a:p>
            <a:pPr algn="l">
              <a:lnSpc>
                <a:spcPct val="145000"/>
              </a:lnSpc>
              <a:spcAft>
                <a:spcPts val="600"/>
              </a:spcAft>
            </a:pPr>
            <a:r>
              <a:rPr sz="4000" b="0">
                <a:solidFill>
                  <a:srgbClr val="C23B1E"/>
                </a:solidFill>
                <a:latin typeface="Dela Gothic One"/>
                <a:ea typeface="Dela Gothic One"/>
                <a:cs typeface="Dela Gothic One"/>
              </a:rPr>
              <a:t>鳴くな！</a:t>
            </a:r>
            <a:r>
              <a:rPr sz="4000" b="0">
                <a:solidFill>
                  <a:srgbClr val="1B2A24"/>
                </a:solidFill>
                <a:latin typeface="Dela Gothic One"/>
                <a:ea typeface="Dela Gothic One"/>
                <a:cs typeface="Dela Gothic One"/>
              </a:rPr>
              <a:t>　メリット編</a:t>
            </a:r>
          </a:p>
        </p:txBody>
      </p:sp>
      <p:sp>
        <p:nvSpPr>
          <p:cNvPr id="3" name="TextBox 2"/>
          <p:cNvSpPr txBox="1"/>
          <p:nvPr/>
        </p:nvSpPr>
        <p:spPr>
          <a:xfrm>
            <a:off x="822960" y="1325880"/>
            <a:ext cx="10972800" cy="45720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面前リーチで得るもの</a:t>
            </a:r>
          </a:p>
        </p:txBody>
      </p:sp>
      <p:sp>
        <p:nvSpPr>
          <p:cNvPr id="4" name="Rectangle 3"/>
          <p:cNvSpPr/>
          <p:nvPr/>
        </p:nvSpPr>
        <p:spPr>
          <a:xfrm>
            <a:off x="822960" y="1965960"/>
            <a:ext cx="10515600" cy="27432"/>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5120640" cy="1097280"/>
          </a:xfrm>
          <a:prstGeom prst="rect">
            <a:avLst/>
          </a:prstGeom>
          <a:noFill/>
        </p:spPr>
        <p:txBody>
          <a:bodyPr wrap="square" anchor="t" lIns="0" rIns="0" tIns="0" bIns="0">
            <a:spAutoFit/>
          </a:bodyPr>
          <a:lstStyle/>
          <a:p>
            <a:pPr algn="l">
              <a:lnSpc>
                <a:spcPct val="140000"/>
              </a:lnSpc>
              <a:spcAft>
                <a:spcPts val="200"/>
              </a:spcAft>
            </a:pPr>
            <a:r>
              <a:rPr sz="2100" b="1">
                <a:solidFill>
                  <a:srgbClr val="1B2A24"/>
                </a:solidFill>
                <a:latin typeface="Zen Kaku Gothic New"/>
                <a:ea typeface="Zen Kaku Gothic New"/>
                <a:cs typeface="Zen Kaku Gothic New"/>
              </a:rPr>
              <a:t>他家が押し返しづらくなる</a:t>
            </a:r>
          </a:p>
        </p:txBody>
      </p:sp>
      <p:sp>
        <p:nvSpPr>
          <p:cNvPr id="6" name="TextBox 5"/>
          <p:cNvSpPr txBox="1"/>
          <p:nvPr/>
        </p:nvSpPr>
        <p:spPr>
          <a:xfrm>
            <a:off x="6217920" y="2148840"/>
            <a:ext cx="5120640" cy="1097280"/>
          </a:xfrm>
          <a:prstGeom prst="rect">
            <a:avLst/>
          </a:prstGeom>
          <a:noFill/>
        </p:spPr>
        <p:txBody>
          <a:bodyPr wrap="square" anchor="t" lIns="0" rIns="0" tIns="0" bIns="0">
            <a:spAutoFit/>
          </a:bodyPr>
          <a:lstStyle/>
          <a:p>
            <a:pPr algn="l">
              <a:lnSpc>
                <a:spcPct val="140000"/>
              </a:lnSpc>
              <a:spcAft>
                <a:spcPts val="600"/>
              </a:spcAft>
            </a:pPr>
            <a:r>
              <a:rPr sz="2100" b="1">
                <a:solidFill>
                  <a:srgbClr val="C23B1E"/>
                </a:solidFill>
                <a:latin typeface="Zen Kaku Gothic New"/>
                <a:ea typeface="Zen Kaku Gothic New"/>
                <a:cs typeface="Zen Kaku Gothic New"/>
              </a:rPr>
              <a:t>→  </a:t>
            </a:r>
            <a:r>
              <a:rPr sz="1900" b="1">
                <a:solidFill>
                  <a:srgbClr val="C23B1E"/>
                </a:solidFill>
                <a:latin typeface="Zen Kaku Gothic New"/>
                <a:ea typeface="Zen Kaku Gothic New"/>
                <a:cs typeface="Zen Kaku Gothic New"/>
              </a:rPr>
              <a:t>降ろす or 回らせる → リーチ者だけが和了の抽選を受ける「一人旅」ができる</a:t>
            </a:r>
          </a:p>
        </p:txBody>
      </p:sp>
      <p:sp>
        <p:nvSpPr>
          <p:cNvPr id="7" name="Rectangle 6"/>
          <p:cNvSpPr/>
          <p:nvPr/>
        </p:nvSpPr>
        <p:spPr>
          <a:xfrm>
            <a:off x="822960" y="3291839"/>
            <a:ext cx="10515600" cy="27432"/>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5120640" cy="1097280"/>
          </a:xfrm>
          <a:prstGeom prst="rect">
            <a:avLst/>
          </a:prstGeom>
          <a:noFill/>
        </p:spPr>
        <p:txBody>
          <a:bodyPr wrap="square" anchor="t" lIns="0" rIns="0" tIns="0" bIns="0">
            <a:spAutoFit/>
          </a:bodyPr>
          <a:lstStyle/>
          <a:p>
            <a:pPr algn="l">
              <a:lnSpc>
                <a:spcPct val="140000"/>
              </a:lnSpc>
              <a:spcAft>
                <a:spcPts val="200"/>
              </a:spcAft>
            </a:pPr>
            <a:r>
              <a:rPr sz="2100" b="1">
                <a:solidFill>
                  <a:srgbClr val="1B2A24"/>
                </a:solidFill>
                <a:latin typeface="Zen Kaku Gothic New"/>
                <a:ea typeface="Zen Kaku Gothic New"/>
                <a:cs typeface="Zen Kaku Gothic New"/>
              </a:rPr>
              <a:t>打点上昇が見込める</a:t>
            </a:r>
          </a:p>
          <a:p>
            <a:pPr algn="l">
              <a:lnSpc>
                <a:spcPct val="140000"/>
              </a:lnSpc>
              <a:spcAft>
                <a:spcPts val="200"/>
              </a:spcAft>
            </a:pPr>
            <a:r>
              <a:rPr sz="1400" b="0">
                <a:solidFill>
                  <a:srgbClr val="4E5F57"/>
                </a:solidFill>
                <a:latin typeface="Zen Kaku Gothic New"/>
                <a:ea typeface="Zen Kaku Gothic New"/>
                <a:cs typeface="Zen Kaku Gothic New"/>
              </a:rPr>
              <a:t>三麻だと大抵はドラ、赤、花が絡むので満貫以上になりやすい</a:t>
            </a:r>
          </a:p>
        </p:txBody>
      </p:sp>
      <p:sp>
        <p:nvSpPr>
          <p:cNvPr id="9" name="TextBox 8"/>
          <p:cNvSpPr txBox="1"/>
          <p:nvPr/>
        </p:nvSpPr>
        <p:spPr>
          <a:xfrm>
            <a:off x="6217920" y="3474720"/>
            <a:ext cx="5120640" cy="1097280"/>
          </a:xfrm>
          <a:prstGeom prst="rect">
            <a:avLst/>
          </a:prstGeom>
          <a:noFill/>
        </p:spPr>
        <p:txBody>
          <a:bodyPr wrap="square" anchor="t" lIns="0" rIns="0" tIns="0" bIns="0">
            <a:spAutoFit/>
          </a:bodyPr>
          <a:lstStyle/>
          <a:p>
            <a:pPr algn="l">
              <a:lnSpc>
                <a:spcPct val="140000"/>
              </a:lnSpc>
              <a:spcAft>
                <a:spcPts val="600"/>
              </a:spcAft>
            </a:pPr>
            <a:r>
              <a:rPr sz="2100" b="1">
                <a:solidFill>
                  <a:srgbClr val="C23B1E"/>
                </a:solidFill>
                <a:latin typeface="Zen Kaku Gothic New"/>
                <a:ea typeface="Zen Kaku Gothic New"/>
                <a:cs typeface="Zen Kaku Gothic New"/>
              </a:rPr>
              <a:t>→  </a:t>
            </a:r>
            <a:r>
              <a:rPr sz="1900" b="1">
                <a:solidFill>
                  <a:srgbClr val="C23B1E"/>
                </a:solidFill>
                <a:latin typeface="Zen Kaku Gothic New"/>
                <a:ea typeface="Zen Kaku Gothic New"/>
                <a:cs typeface="Zen Kaku Gothic New"/>
              </a:rPr>
              <a:t>リーチの一翻と裏ドラが捲れるだけで他家への脅威となる（ノミ手は別）</a:t>
            </a:r>
          </a:p>
        </p:txBody>
      </p:sp>
      <p:sp>
        <p:nvSpPr>
          <p:cNvPr id="10" name="Rectangle 9"/>
          <p:cNvSpPr/>
          <p:nvPr/>
        </p:nvSpPr>
        <p:spPr>
          <a:xfrm>
            <a:off x="822960" y="4754880"/>
            <a:ext cx="10515600" cy="132588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4754880"/>
            <a:ext cx="91440" cy="132588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754880"/>
            <a:ext cx="1463040" cy="1325880"/>
          </a:xfrm>
          <a:prstGeom prst="rect">
            <a:avLst/>
          </a:prstGeom>
          <a:noFill/>
        </p:spPr>
        <p:txBody>
          <a:bodyPr wrap="square" anchor="ctr" lIns="0" rIns="0" tIns="0" bIns="0">
            <a:spAutoFit/>
          </a:bodyPr>
          <a:lstStyle/>
          <a:p>
            <a:pPr algn="l">
              <a:lnSpc>
                <a:spcPct val="145000"/>
              </a:lnSpc>
              <a:spcAft>
                <a:spcPts val="600"/>
              </a:spcAft>
            </a:pPr>
            <a:r>
              <a:rPr sz="2600" b="0">
                <a:solidFill>
                  <a:srgbClr val="C23B1E"/>
                </a:solidFill>
                <a:latin typeface="Dela Gothic One"/>
                <a:ea typeface="Dela Gothic One"/>
                <a:cs typeface="Dela Gothic One"/>
              </a:rPr>
              <a:t>結論</a:t>
            </a:r>
          </a:p>
        </p:txBody>
      </p:sp>
      <p:sp>
        <p:nvSpPr>
          <p:cNvPr id="13" name="TextBox 12"/>
          <p:cNvSpPr txBox="1"/>
          <p:nvPr/>
        </p:nvSpPr>
        <p:spPr>
          <a:xfrm>
            <a:off x="2468880" y="4754880"/>
            <a:ext cx="8686800" cy="1325880"/>
          </a:xfrm>
          <a:prstGeom prst="rect">
            <a:avLst/>
          </a:prstGeom>
          <a:noFill/>
        </p:spPr>
        <p:txBody>
          <a:bodyPr wrap="square" anchor="ctr" lIns="0" rIns="0" tIns="0" bIns="0">
            <a:spAutoFit/>
          </a:bodyPr>
          <a:lstStyle/>
          <a:p>
            <a:pPr algn="l">
              <a:lnSpc>
                <a:spcPct val="145000"/>
              </a:lnSpc>
              <a:spcAft>
                <a:spcPts val="200"/>
              </a:spcAft>
            </a:pPr>
            <a:r>
              <a:rPr sz="1700" b="0">
                <a:solidFill>
                  <a:srgbClr val="1B2A24"/>
                </a:solidFill>
                <a:latin typeface="Zen Kaku Gothic New"/>
                <a:ea typeface="Zen Kaku Gothic New"/>
                <a:cs typeface="Zen Kaku Gothic New"/>
              </a:rPr>
              <a:t>相手が攻めづらくなり、かつ自分の打点を上げることができる</a:t>
            </a:r>
          </a:p>
          <a:p>
            <a:pPr algn="l">
              <a:lnSpc>
                <a:spcPct val="145000"/>
              </a:lnSpc>
              <a:spcAft>
                <a:spcPts val="200"/>
              </a:spcAft>
            </a:pPr>
            <a:r>
              <a:rPr sz="2200" b="1">
                <a:solidFill>
                  <a:srgbClr val="C23B1E"/>
                </a:solidFill>
                <a:latin typeface="Zen Kaku Gothic New"/>
                <a:ea typeface="Zen Kaku Gothic New"/>
                <a:cs typeface="Zen Kaku Gothic New"/>
              </a:rPr>
              <a:t>最大最強の武器がリーチ。</a:t>
            </a:r>
          </a:p>
        </p:txBody>
      </p:sp>
      <p:sp>
        <p:nvSpPr>
          <p:cNvPr id="14" name="TextBox 13"/>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48640"/>
            <a:ext cx="4572000" cy="822960"/>
          </a:xfrm>
          <a:prstGeom prst="rect">
            <a:avLst/>
          </a:prstGeom>
          <a:noFill/>
        </p:spPr>
        <p:txBody>
          <a:bodyPr wrap="square" anchor="t" lIns="0" rIns="0" tIns="0" bIns="0">
            <a:spAutoFit/>
          </a:bodyPr>
          <a:lstStyle/>
          <a:p>
            <a:pPr algn="l">
              <a:lnSpc>
                <a:spcPct val="145000"/>
              </a:lnSpc>
              <a:spcAft>
                <a:spcPts val="600"/>
              </a:spcAft>
            </a:pPr>
            <a:r>
              <a:rPr sz="4000" b="0">
                <a:solidFill>
                  <a:srgbClr val="C23B1E"/>
                </a:solidFill>
                <a:latin typeface="Dela Gothic One"/>
                <a:ea typeface="Dela Gothic One"/>
                <a:cs typeface="Dela Gothic One"/>
              </a:rPr>
              <a:t>これから</a:t>
            </a:r>
          </a:p>
        </p:txBody>
      </p:sp>
      <p:sp>
        <p:nvSpPr>
          <p:cNvPr id="3" name="TextBox 2"/>
          <p:cNvSpPr txBox="1"/>
          <p:nvPr/>
        </p:nvSpPr>
        <p:spPr>
          <a:xfrm>
            <a:off x="822960" y="1554480"/>
            <a:ext cx="6217920" cy="4572000"/>
          </a:xfrm>
          <a:prstGeom prst="rect">
            <a:avLst/>
          </a:prstGeom>
          <a:noFill/>
        </p:spPr>
        <p:txBody>
          <a:bodyPr wrap="square" anchor="t" lIns="0" rIns="0" tIns="0" bIns="0">
            <a:spAutoFit/>
          </a:bodyPr>
          <a:lstStyle/>
          <a:p>
            <a:pPr algn="l">
              <a:lnSpc>
                <a:spcPct val="155000"/>
              </a:lnSpc>
              <a:spcAft>
                <a:spcPts val="1200"/>
              </a:spcAft>
            </a:pPr>
            <a:r>
              <a:rPr sz="1900" b="0">
                <a:solidFill>
                  <a:srgbClr val="4E5F57"/>
                </a:solidFill>
                <a:latin typeface="Zen Kaku Gothic New"/>
                <a:ea typeface="Zen Kaku Gothic New"/>
                <a:cs typeface="Zen Kaku Gothic New"/>
              </a:rPr>
              <a:t>今のあなたの副露状況は、</a:t>
            </a:r>
          </a:p>
          <a:p>
            <a:pPr algn="l">
              <a:lnSpc>
                <a:spcPct val="155000"/>
              </a:lnSpc>
              <a:spcAft>
                <a:spcPts val="1200"/>
              </a:spcAft>
            </a:pPr>
            <a:r>
              <a:rPr sz="2600" b="1">
                <a:solidFill>
                  <a:srgbClr val="1B2A24"/>
                </a:solidFill>
                <a:latin typeface="Zen Kaku Gothic New"/>
                <a:ea typeface="Zen Kaku Gothic New"/>
                <a:cs typeface="Zen Kaku Gothic New"/>
              </a:rPr>
              <a:t>稼ぐ手段が未熟なのに、支出の機会だけ増えている状態。</a:t>
            </a:r>
          </a:p>
          <a:p>
            <a:pPr algn="l">
              <a:lnSpc>
                <a:spcPct val="155000"/>
              </a:lnSpc>
              <a:spcAft>
                <a:spcPts val="1200"/>
              </a:spcAft>
            </a:pPr>
            <a:r>
              <a:rPr sz="1800" b="0">
                <a:solidFill>
                  <a:srgbClr val="1B2A24"/>
                </a:solidFill>
                <a:latin typeface="Zen Kaku Gothic New"/>
                <a:ea typeface="Zen Kaku Gothic New"/>
                <a:cs typeface="Zen Kaku Gothic New"/>
              </a:rPr>
              <a:t>稼ぐスキルを磨くべきだが、そのためには鳴いてはいけない。</a:t>
            </a:r>
          </a:p>
          <a:p>
            <a:pPr algn="l">
              <a:lnSpc>
                <a:spcPct val="155000"/>
              </a:lnSpc>
              <a:spcAft>
                <a:spcPts val="1200"/>
              </a:spcAft>
            </a:pPr>
            <a:r>
              <a:rPr sz="1600" b="0">
                <a:solidFill>
                  <a:srgbClr val="4E5F57"/>
                </a:solidFill>
                <a:latin typeface="Zen Kaku Gothic New"/>
                <a:ea typeface="Zen Kaku Gothic New"/>
                <a:cs typeface="Zen Kaku Gothic New"/>
              </a:rPr>
              <a:t>当然、副露を使えばあがれたであろう場面に沢山遭遇する。負けが増える期間も多少あるかもしれない（現に増えてるからいいか）。</a:t>
            </a:r>
          </a:p>
        </p:txBody>
      </p:sp>
      <p:sp>
        <p:nvSpPr>
          <p:cNvPr id="4" name="Rectangle 3"/>
          <p:cNvSpPr/>
          <p:nvPr/>
        </p:nvSpPr>
        <p:spPr>
          <a:xfrm>
            <a:off x="7498079" y="1554480"/>
            <a:ext cx="3931920" cy="320040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18120" y="1783080"/>
            <a:ext cx="3383280" cy="2834640"/>
          </a:xfrm>
          <a:prstGeom prst="rect">
            <a:avLst/>
          </a:prstGeom>
          <a:noFill/>
        </p:spPr>
        <p:txBody>
          <a:bodyPr wrap="square" anchor="t" lIns="0" rIns="0" tIns="0" bIns="0">
            <a:spAutoFit/>
          </a:bodyPr>
          <a:lstStyle/>
          <a:p>
            <a:pPr algn="l">
              <a:lnSpc>
                <a:spcPct val="160000"/>
              </a:lnSpc>
              <a:spcAft>
                <a:spcPts val="800"/>
              </a:spcAft>
            </a:pPr>
            <a:r>
              <a:rPr sz="1600" b="0">
                <a:solidFill>
                  <a:srgbClr val="1B2A24"/>
                </a:solidFill>
                <a:latin typeface="Zen Kaku Gothic New"/>
                <a:ea typeface="Zen Kaku Gothic New"/>
                <a:cs typeface="Zen Kaku Gothic New"/>
              </a:rPr>
              <a:t>それよりも、リーチしてツモるための手組、そのための牌理・牌効率・場況を考え、技術を向上させることに重きを置いて上達することが</a:t>
            </a:r>
          </a:p>
          <a:p>
            <a:pPr algn="l">
              <a:lnSpc>
                <a:spcPct val="160000"/>
              </a:lnSpc>
              <a:spcAft>
                <a:spcPts val="800"/>
              </a:spcAft>
            </a:pPr>
            <a:r>
              <a:rPr sz="2000" b="1">
                <a:solidFill>
                  <a:srgbClr val="C23B1E"/>
                </a:solidFill>
                <a:latin typeface="Zen Kaku Gothic New"/>
                <a:ea typeface="Zen Kaku Gothic New"/>
                <a:cs typeface="Zen Kaku Gothic New"/>
              </a:rPr>
              <a:t>勝ち組への近道。</a:t>
            </a:r>
          </a:p>
        </p:txBody>
      </p:sp>
      <p:sp>
        <p:nvSpPr>
          <p:cNvPr id="6" name="TextBox 5"/>
          <p:cNvSpPr txBox="1"/>
          <p:nvPr/>
        </p:nvSpPr>
        <p:spPr>
          <a:xfrm>
            <a:off x="7498079" y="5029200"/>
            <a:ext cx="4114800" cy="1097280"/>
          </a:xfrm>
          <a:prstGeom prst="rect">
            <a:avLst/>
          </a:prstGeom>
          <a:noFill/>
        </p:spPr>
        <p:txBody>
          <a:bodyPr wrap="square" anchor="t" lIns="0" rIns="0" tIns="0" bIns="0">
            <a:spAutoFit/>
          </a:bodyPr>
          <a:lstStyle/>
          <a:p>
            <a:pPr algn="l">
              <a:lnSpc>
                <a:spcPct val="100000"/>
              </a:lnSpc>
              <a:spcAft>
                <a:spcPts val="0"/>
              </a:spcAft>
            </a:pPr>
            <a:r>
              <a:rPr sz="2600" b="0">
                <a:solidFill>
                  <a:srgbClr val="4E5F57"/>
                </a:solidFill>
                <a:latin typeface="Dela Gothic One"/>
                <a:ea typeface="Dela Gothic One"/>
                <a:cs typeface="Dela Gothic One"/>
              </a:rPr>
              <a:t>だから</a:t>
            </a:r>
          </a:p>
          <a:p>
            <a:pPr algn="l">
              <a:lnSpc>
                <a:spcPct val="100000"/>
              </a:lnSpc>
              <a:spcAft>
                <a:spcPts val="0"/>
              </a:spcAft>
            </a:pPr>
            <a:r>
              <a:rPr sz="4800" b="0">
                <a:solidFill>
                  <a:srgbClr val="C23B1E"/>
                </a:solidFill>
                <a:latin typeface="Dela Gothic One"/>
                <a:ea typeface="Dela Gothic One"/>
                <a:cs typeface="Dela Gothic One"/>
              </a:rPr>
              <a:t>鳴くな！</a:t>
            </a:r>
          </a:p>
        </p:txBody>
      </p:sp>
      <p:sp>
        <p:nvSpPr>
          <p:cNvPr id="7" name="TextBox 6"/>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48640"/>
            <a:ext cx="10972800" cy="822960"/>
          </a:xfrm>
          <a:prstGeom prst="rect">
            <a:avLst/>
          </a:prstGeom>
          <a:noFill/>
        </p:spPr>
        <p:txBody>
          <a:bodyPr wrap="square" anchor="t" lIns="0" rIns="0" tIns="0" bIns="0">
            <a:spAutoFit/>
          </a:bodyPr>
          <a:lstStyle/>
          <a:p>
            <a:pPr algn="l">
              <a:lnSpc>
                <a:spcPct val="145000"/>
              </a:lnSpc>
              <a:spcAft>
                <a:spcPts val="600"/>
              </a:spcAft>
            </a:pPr>
            <a:r>
              <a:rPr sz="4000" b="0">
                <a:solidFill>
                  <a:srgbClr val="C23B1E"/>
                </a:solidFill>
                <a:latin typeface="Dela Gothic One"/>
                <a:ea typeface="Dela Gothic One"/>
                <a:cs typeface="Dela Gothic One"/>
              </a:rPr>
              <a:t>それでも</a:t>
            </a:r>
          </a:p>
        </p:txBody>
      </p:sp>
      <p:sp>
        <p:nvSpPr>
          <p:cNvPr id="3" name="TextBox 2"/>
          <p:cNvSpPr txBox="1"/>
          <p:nvPr/>
        </p:nvSpPr>
        <p:spPr>
          <a:xfrm>
            <a:off x="822960" y="1325880"/>
            <a:ext cx="10972800" cy="457200"/>
          </a:xfrm>
          <a:prstGeom prst="rect">
            <a:avLst/>
          </a:prstGeom>
          <a:noFill/>
        </p:spPr>
        <p:txBody>
          <a:bodyPr wrap="square" anchor="t" lIns="0" rIns="0" tIns="0" bIns="0">
            <a:spAutoFit/>
          </a:bodyPr>
          <a:lstStyle/>
          <a:p>
            <a:pPr algn="l">
              <a:lnSpc>
                <a:spcPct val="145000"/>
              </a:lnSpc>
              <a:spcAft>
                <a:spcPts val="600"/>
              </a:spcAft>
            </a:pPr>
            <a:r>
              <a:rPr sz="1600" b="0">
                <a:solidFill>
                  <a:srgbClr val="4E5F57"/>
                </a:solidFill>
                <a:latin typeface="Zen Kaku Gothic New"/>
                <a:ea typeface="Zen Kaku Gothic New"/>
                <a:cs typeface="Zen Kaku Gothic New"/>
              </a:rPr>
              <a:t>鳴きたい時は基準や条件を持つ（三麻と四麻でも当然変わる）</a:t>
            </a:r>
          </a:p>
        </p:txBody>
      </p:sp>
      <p:sp>
        <p:nvSpPr>
          <p:cNvPr id="4" name="Rectangle 3"/>
          <p:cNvSpPr/>
          <p:nvPr/>
        </p:nvSpPr>
        <p:spPr>
          <a:xfrm>
            <a:off x="822960" y="1965960"/>
            <a:ext cx="5074920" cy="73152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65960"/>
            <a:ext cx="4572000" cy="731520"/>
          </a:xfrm>
          <a:prstGeom prst="rect">
            <a:avLst/>
          </a:prstGeom>
          <a:noFill/>
        </p:spPr>
        <p:txBody>
          <a:bodyPr wrap="square" anchor="ctr" lIns="0" rIns="0" tIns="0" bIns="0">
            <a:spAutoFit/>
          </a:bodyPr>
          <a:lstStyle/>
          <a:p>
            <a:pPr algn="l">
              <a:lnSpc>
                <a:spcPct val="145000"/>
              </a:lnSpc>
              <a:spcAft>
                <a:spcPts val="600"/>
              </a:spcAft>
            </a:pPr>
            <a:r>
              <a:rPr sz="2600" b="0">
                <a:solidFill>
                  <a:srgbClr val="FFFFFF"/>
                </a:solidFill>
                <a:latin typeface="Dela Gothic One"/>
                <a:ea typeface="Dela Gothic One"/>
                <a:cs typeface="Dela Gothic One"/>
              </a:rPr>
              <a:t>鳴く条件</a:t>
            </a:r>
          </a:p>
        </p:txBody>
      </p:sp>
      <p:sp>
        <p:nvSpPr>
          <p:cNvPr id="6" name="Rectangle 5"/>
          <p:cNvSpPr/>
          <p:nvPr/>
        </p:nvSpPr>
        <p:spPr>
          <a:xfrm>
            <a:off x="822960" y="2697480"/>
            <a:ext cx="5074920" cy="233172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26080"/>
            <a:ext cx="4480560" cy="2011680"/>
          </a:xfrm>
          <a:prstGeom prst="rect">
            <a:avLst/>
          </a:prstGeom>
          <a:noFill/>
        </p:spPr>
        <p:txBody>
          <a:bodyPr wrap="square" anchor="t" lIns="0" rIns="0" tIns="0" bIns="0">
            <a:spAutoFit/>
          </a:bodyPr>
          <a:lstStyle/>
          <a:p>
            <a:pPr algn="l">
              <a:lnSpc>
                <a:spcPct val="150000"/>
              </a:lnSpc>
              <a:spcAft>
                <a:spcPts val="1200"/>
              </a:spcAft>
            </a:pPr>
            <a:r>
              <a:rPr sz="1080" b="0">
                <a:solidFill>
                  <a:srgbClr val="C23B1E"/>
                </a:solidFill>
                <a:latin typeface="Zen Kaku Gothic New"/>
                <a:ea typeface="Zen Kaku Gothic New"/>
                <a:cs typeface="Zen Kaku Gothic New"/>
              </a:rPr>
              <a:t>■  </a:t>
            </a:r>
            <a:r>
              <a:rPr sz="1800" b="0">
                <a:solidFill>
                  <a:srgbClr val="1B2A24"/>
                </a:solidFill>
                <a:latin typeface="Zen Kaku Gothic New"/>
                <a:ea typeface="Zen Kaku Gothic New"/>
                <a:cs typeface="Zen Kaku Gothic New"/>
              </a:rPr>
              <a:t>跳満・満貫以上が見込めて、聴牌形も両面以上の良形で先制できるとき</a:t>
            </a:r>
          </a:p>
          <a:p>
            <a:pPr algn="l">
              <a:lnSpc>
                <a:spcPct val="150000"/>
              </a:lnSpc>
              <a:spcAft>
                <a:spcPts val="1200"/>
              </a:spcAft>
            </a:pPr>
            <a:r>
              <a:rPr sz="1080" b="0">
                <a:solidFill>
                  <a:srgbClr val="C23B1E"/>
                </a:solidFill>
                <a:latin typeface="Zen Kaku Gothic New"/>
                <a:ea typeface="Zen Kaku Gothic New"/>
                <a:cs typeface="Zen Kaku Gothic New"/>
              </a:rPr>
              <a:t>■  </a:t>
            </a:r>
            <a:r>
              <a:rPr sz="1800" b="0">
                <a:solidFill>
                  <a:srgbClr val="1B2A24"/>
                </a:solidFill>
                <a:latin typeface="Zen Kaku Gothic New"/>
                <a:ea typeface="Zen Kaku Gothic New"/>
                <a:cs typeface="Zen Kaku Gothic New"/>
              </a:rPr>
              <a:t>手牌の中に他家の現物が3つ以上、あるいは字牌トイツがあるとき</a:t>
            </a:r>
          </a:p>
        </p:txBody>
      </p:sp>
      <p:sp>
        <p:nvSpPr>
          <p:cNvPr id="8" name="Rectangle 7"/>
          <p:cNvSpPr/>
          <p:nvPr/>
        </p:nvSpPr>
        <p:spPr>
          <a:xfrm>
            <a:off x="6263640" y="1965960"/>
            <a:ext cx="5074920" cy="731520"/>
          </a:xfrm>
          <a:prstGeom prst="rect">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65960"/>
            <a:ext cx="4572000" cy="731520"/>
          </a:xfrm>
          <a:prstGeom prst="rect">
            <a:avLst/>
          </a:prstGeom>
          <a:noFill/>
        </p:spPr>
        <p:txBody>
          <a:bodyPr wrap="square" anchor="ctr" lIns="0" rIns="0" tIns="0" bIns="0">
            <a:spAutoFit/>
          </a:bodyPr>
          <a:lstStyle/>
          <a:p>
            <a:pPr algn="l">
              <a:lnSpc>
                <a:spcPct val="145000"/>
              </a:lnSpc>
              <a:spcAft>
                <a:spcPts val="600"/>
              </a:spcAft>
            </a:pPr>
            <a:r>
              <a:rPr sz="2600" b="0">
                <a:solidFill>
                  <a:srgbClr val="F5F1E6"/>
                </a:solidFill>
                <a:latin typeface="Dela Gothic One"/>
                <a:ea typeface="Dela Gothic One"/>
                <a:cs typeface="Dela Gothic One"/>
              </a:rPr>
              <a:t>鳴かない条件</a:t>
            </a:r>
          </a:p>
        </p:txBody>
      </p:sp>
      <p:sp>
        <p:nvSpPr>
          <p:cNvPr id="10" name="Rectangle 9"/>
          <p:cNvSpPr/>
          <p:nvPr/>
        </p:nvSpPr>
        <p:spPr>
          <a:xfrm>
            <a:off x="6263640" y="2697480"/>
            <a:ext cx="5074920" cy="233172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926080"/>
            <a:ext cx="4480560" cy="2011680"/>
          </a:xfrm>
          <a:prstGeom prst="rect">
            <a:avLst/>
          </a:prstGeom>
          <a:noFill/>
        </p:spPr>
        <p:txBody>
          <a:bodyPr wrap="square" anchor="t" lIns="0" rIns="0" tIns="0" bIns="0">
            <a:spAutoFit/>
          </a:bodyPr>
          <a:lstStyle/>
          <a:p>
            <a:pPr algn="l">
              <a:lnSpc>
                <a:spcPct val="150000"/>
              </a:lnSpc>
              <a:spcAft>
                <a:spcPts val="1200"/>
              </a:spcAft>
            </a:pPr>
            <a:r>
              <a:rPr sz="1080" b="0">
                <a:solidFill>
                  <a:srgbClr val="1B2A24"/>
                </a:solidFill>
                <a:latin typeface="Zen Kaku Gothic New"/>
                <a:ea typeface="Zen Kaku Gothic New"/>
                <a:cs typeface="Zen Kaku Gothic New"/>
              </a:rPr>
              <a:t>■  </a:t>
            </a:r>
            <a:r>
              <a:rPr sz="1800" b="0">
                <a:solidFill>
                  <a:srgbClr val="1B2A24"/>
                </a:solidFill>
                <a:latin typeface="Zen Kaku Gothic New"/>
                <a:ea typeface="Zen Kaku Gothic New"/>
                <a:cs typeface="Zen Kaku Gothic New"/>
              </a:rPr>
              <a:t>鳴いてもシャンテン数が上がらない、聴牌まで遠い</a:t>
            </a:r>
          </a:p>
          <a:p>
            <a:pPr algn="l">
              <a:lnSpc>
                <a:spcPct val="150000"/>
              </a:lnSpc>
              <a:spcAft>
                <a:spcPts val="1200"/>
              </a:spcAft>
            </a:pPr>
            <a:r>
              <a:rPr sz="1080" b="0">
                <a:solidFill>
                  <a:srgbClr val="1B2A24"/>
                </a:solidFill>
                <a:latin typeface="Zen Kaku Gothic New"/>
                <a:ea typeface="Zen Kaku Gothic New"/>
                <a:cs typeface="Zen Kaku Gothic New"/>
              </a:rPr>
              <a:t>■  </a:t>
            </a:r>
            <a:r>
              <a:rPr sz="1800" b="0">
                <a:solidFill>
                  <a:srgbClr val="1B2A24"/>
                </a:solidFill>
                <a:latin typeface="Zen Kaku Gothic New"/>
                <a:ea typeface="Zen Kaku Gothic New"/>
                <a:cs typeface="Zen Kaku Gothic New"/>
              </a:rPr>
              <a:t>鳴いても愚形（ペンチャン、カンチャン、シャンポン、単騎）が残る</a:t>
            </a:r>
          </a:p>
        </p:txBody>
      </p:sp>
      <p:sp>
        <p:nvSpPr>
          <p:cNvPr id="12" name="TextBox 11"/>
          <p:cNvSpPr txBox="1"/>
          <p:nvPr/>
        </p:nvSpPr>
        <p:spPr>
          <a:xfrm>
            <a:off x="822960" y="5303520"/>
            <a:ext cx="10607040" cy="914400"/>
          </a:xfrm>
          <a:prstGeom prst="rect">
            <a:avLst/>
          </a:prstGeom>
          <a:noFill/>
        </p:spPr>
        <p:txBody>
          <a:bodyPr wrap="square" anchor="t" lIns="0" rIns="0" tIns="0" bIns="0">
            <a:spAutoFit/>
          </a:bodyPr>
          <a:lstStyle/>
          <a:p>
            <a:pPr algn="l">
              <a:lnSpc>
                <a:spcPct val="150000"/>
              </a:lnSpc>
              <a:spcAft>
                <a:spcPts val="200"/>
              </a:spcAft>
            </a:pPr>
            <a:r>
              <a:rPr sz="1500" b="1">
                <a:solidFill>
                  <a:srgbClr val="1B2A24"/>
                </a:solidFill>
                <a:latin typeface="Zen Kaku Gothic New"/>
                <a:ea typeface="Zen Kaku Gothic New"/>
                <a:cs typeface="Zen Kaku Gothic New"/>
              </a:rPr>
              <a:t>攻撃・守備ともに知識・技術・戦術がない負け組のあなたは、鳴く時にはこれぐらいの高い基準を持つように。</a:t>
            </a:r>
          </a:p>
          <a:p>
            <a:pPr algn="l">
              <a:lnSpc>
                <a:spcPct val="150000"/>
              </a:lnSpc>
              <a:spcAft>
                <a:spcPts val="200"/>
              </a:spcAft>
            </a:pPr>
            <a:r>
              <a:rPr sz="1500" b="0">
                <a:solidFill>
                  <a:srgbClr val="4E5F57"/>
                </a:solidFill>
                <a:latin typeface="Zen Kaku Gothic New"/>
                <a:ea typeface="Zen Kaku Gothic New"/>
                <a:cs typeface="Zen Kaku Gothic New"/>
              </a:rPr>
              <a:t>鳴くまでの条件をフローチャートにして作成してみるのもいいかも。</a:t>
            </a:r>
          </a:p>
        </p:txBody>
      </p:sp>
      <p:sp>
        <p:nvSpPr>
          <p:cNvPr id="13" name="TextBox 12"/>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副露編　</a:t>
            </a:r>
            <a:r>
              <a:rPr sz="1100" b="1">
                <a:solidFill>
                  <a:srgbClr val="4E5F57"/>
                </a:solidFill>
                <a:latin typeface="Zen Kaku Gothic New"/>
                <a:ea typeface="Zen Kaku Gothic New"/>
                <a:cs typeface="Zen Kaku Gothic New"/>
              </a:rPr>
              <a:t>08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02920"/>
            <a:ext cx="109728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番外編 1　</a:t>
            </a:r>
            <a:r>
              <a:rPr sz="4400" b="0">
                <a:solidFill>
                  <a:srgbClr val="C23B1E"/>
                </a:solidFill>
                <a:latin typeface="Dela Gothic One"/>
                <a:ea typeface="Dela Gothic One"/>
                <a:cs typeface="Dela Gothic One"/>
              </a:rPr>
              <a:t>鳴け！</a:t>
            </a:r>
          </a:p>
        </p:txBody>
      </p:sp>
      <p:sp>
        <p:nvSpPr>
          <p:cNvPr id="3" name="TextBox 2"/>
          <p:cNvSpPr txBox="1"/>
          <p:nvPr/>
        </p:nvSpPr>
        <p:spPr>
          <a:xfrm>
            <a:off x="822960" y="1554480"/>
            <a:ext cx="10972800" cy="411480"/>
          </a:xfrm>
          <a:prstGeom prst="rect">
            <a:avLst/>
          </a:prstGeom>
          <a:noFill/>
        </p:spPr>
        <p:txBody>
          <a:bodyPr wrap="square" anchor="t" lIns="0" rIns="0" tIns="0" bIns="0">
            <a:spAutoFit/>
          </a:bodyPr>
          <a:lstStyle/>
          <a:p>
            <a:pPr algn="l">
              <a:lnSpc>
                <a:spcPct val="145000"/>
              </a:lnSpc>
              <a:spcAft>
                <a:spcPts val="600"/>
              </a:spcAft>
            </a:pPr>
            <a:r>
              <a:rPr sz="1600" b="1">
                <a:solidFill>
                  <a:srgbClr val="4E5F57"/>
                </a:solidFill>
                <a:latin typeface="Zen Kaku Gothic New"/>
                <a:ea typeface="Zen Kaku Gothic New"/>
                <a:cs typeface="Zen Kaku Gothic New"/>
              </a:rPr>
              <a:t>三麻　東一局　西家　ドラ⑤　6巡目</a:t>
            </a:r>
          </a:p>
        </p:txBody>
      </p:sp>
      <p:sp>
        <p:nvSpPr>
          <p:cNvPr id="4" name="Rounded Rectangle 3"/>
          <p:cNvSpPr/>
          <p:nvPr/>
        </p:nvSpPr>
        <p:spPr>
          <a:xfrm>
            <a:off x="822960"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南</a:t>
            </a:r>
          </a:p>
        </p:txBody>
      </p:sp>
      <p:sp>
        <p:nvSpPr>
          <p:cNvPr id="7" name="Rounded Rectangle 6"/>
          <p:cNvSpPr/>
          <p:nvPr/>
        </p:nvSpPr>
        <p:spPr>
          <a:xfrm>
            <a:off x="1481328"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81328"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81328"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南</a:t>
            </a:r>
          </a:p>
        </p:txBody>
      </p:sp>
      <p:sp>
        <p:nvSpPr>
          <p:cNvPr id="10" name="Rounded Rectangle 9"/>
          <p:cNvSpPr/>
          <p:nvPr/>
        </p:nvSpPr>
        <p:spPr>
          <a:xfrm>
            <a:off x="2139696"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39696"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9696"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C23B1E"/>
                </a:solidFill>
                <a:latin typeface="Dela Gothic One"/>
                <a:ea typeface="Dela Gothic One"/>
                <a:cs typeface="Dela Gothic One"/>
              </a:rPr>
              <a:t>中</a:t>
            </a:r>
          </a:p>
        </p:txBody>
      </p:sp>
      <p:sp>
        <p:nvSpPr>
          <p:cNvPr id="13" name="Rounded Rectangle 12"/>
          <p:cNvSpPr/>
          <p:nvPr/>
        </p:nvSpPr>
        <p:spPr>
          <a:xfrm>
            <a:off x="2798063"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98063"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8063"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C23B1E"/>
                </a:solidFill>
                <a:latin typeface="Dela Gothic One"/>
                <a:ea typeface="Dela Gothic One"/>
                <a:cs typeface="Dela Gothic One"/>
              </a:rPr>
              <a:t>中</a:t>
            </a:r>
          </a:p>
        </p:txBody>
      </p:sp>
      <p:sp>
        <p:nvSpPr>
          <p:cNvPr id="16" name="Rounded Rectangle 15"/>
          <p:cNvSpPr/>
          <p:nvPr/>
        </p:nvSpPr>
        <p:spPr>
          <a:xfrm>
            <a:off x="3456431"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56431"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1"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C23B1E"/>
                </a:solidFill>
                <a:latin typeface="Dela Gothic One"/>
                <a:ea typeface="Dela Gothic One"/>
                <a:cs typeface="Dela Gothic One"/>
              </a:rPr>
              <a:t>中</a:t>
            </a:r>
          </a:p>
        </p:txBody>
      </p:sp>
      <p:sp>
        <p:nvSpPr>
          <p:cNvPr id="19" name="Rounded Rectangle 18"/>
          <p:cNvSpPr/>
          <p:nvPr/>
        </p:nvSpPr>
        <p:spPr>
          <a:xfrm>
            <a:off x="4386376"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6376"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6376"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3</a:t>
            </a:r>
          </a:p>
        </p:txBody>
      </p:sp>
      <p:sp>
        <p:nvSpPr>
          <p:cNvPr id="22" name="Rounded Rectangle 21"/>
          <p:cNvSpPr/>
          <p:nvPr/>
        </p:nvSpPr>
        <p:spPr>
          <a:xfrm>
            <a:off x="5044744"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44744"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44744"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3</a:t>
            </a:r>
          </a:p>
        </p:txBody>
      </p:sp>
      <p:sp>
        <p:nvSpPr>
          <p:cNvPr id="25" name="Rounded Rectangle 24"/>
          <p:cNvSpPr/>
          <p:nvPr/>
        </p:nvSpPr>
        <p:spPr>
          <a:xfrm>
            <a:off x="5703112"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03112"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03112"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4</a:t>
            </a:r>
          </a:p>
        </p:txBody>
      </p:sp>
      <p:sp>
        <p:nvSpPr>
          <p:cNvPr id="28" name="Rounded Rectangle 27"/>
          <p:cNvSpPr/>
          <p:nvPr/>
        </p:nvSpPr>
        <p:spPr>
          <a:xfrm>
            <a:off x="6361480"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61480"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1480"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7</a:t>
            </a:r>
          </a:p>
        </p:txBody>
      </p:sp>
      <p:sp>
        <p:nvSpPr>
          <p:cNvPr id="31" name="Rounded Rectangle 30"/>
          <p:cNvSpPr/>
          <p:nvPr/>
        </p:nvSpPr>
        <p:spPr>
          <a:xfrm>
            <a:off x="7019848"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19848"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9848"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8</a:t>
            </a:r>
          </a:p>
        </p:txBody>
      </p:sp>
      <p:sp>
        <p:nvSpPr>
          <p:cNvPr id="34" name="Rounded Rectangle 33"/>
          <p:cNvSpPr/>
          <p:nvPr/>
        </p:nvSpPr>
        <p:spPr>
          <a:xfrm>
            <a:off x="7678216"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78216"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78216"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9</a:t>
            </a:r>
          </a:p>
        </p:txBody>
      </p:sp>
      <p:sp>
        <p:nvSpPr>
          <p:cNvPr id="37" name="Rounded Rectangle 36"/>
          <p:cNvSpPr/>
          <p:nvPr/>
        </p:nvSpPr>
        <p:spPr>
          <a:xfrm>
            <a:off x="8608161"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608161"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08161"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⑨</a:t>
            </a:r>
          </a:p>
        </p:txBody>
      </p:sp>
      <p:sp>
        <p:nvSpPr>
          <p:cNvPr id="40" name="Rounded Rectangle 39"/>
          <p:cNvSpPr/>
          <p:nvPr/>
        </p:nvSpPr>
        <p:spPr>
          <a:xfrm>
            <a:off x="9266529" y="2011680"/>
            <a:ext cx="603504" cy="822960"/>
          </a:xfrm>
          <a:prstGeom prst="roundRect">
            <a:avLst>
              <a:gd name="adj" fmla="val 12000"/>
            </a:avLst>
          </a:prstGeom>
          <a:solidFill>
            <a:srgbClr val="FFFFFF"/>
          </a:solidFill>
          <a:ln w="12700">
            <a:solidFill>
              <a:srgbClr val="B8A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266529" y="2743200"/>
            <a:ext cx="603504" cy="9144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66529" y="2029968"/>
            <a:ext cx="603504" cy="713232"/>
          </a:xfrm>
          <a:prstGeom prst="rect">
            <a:avLst/>
          </a:prstGeom>
          <a:noFill/>
        </p:spPr>
        <p:txBody>
          <a:bodyPr wrap="square" anchor="ctr" lIns="0" rIns="0" tIns="0" bIns="0">
            <a:spAutoFit/>
          </a:bodyPr>
          <a:lstStyle/>
          <a:p>
            <a:pPr algn="ctr">
              <a:lnSpc>
                <a:spcPct val="100000"/>
              </a:lnSpc>
              <a:spcAft>
                <a:spcPts val="0"/>
              </a:spcAft>
            </a:pPr>
            <a:r>
              <a:rPr sz="2600" b="0">
                <a:solidFill>
                  <a:srgbClr val="1C1F1B"/>
                </a:solidFill>
                <a:latin typeface="Dela Gothic One"/>
                <a:ea typeface="Dela Gothic One"/>
                <a:cs typeface="Dela Gothic One"/>
              </a:rPr>
              <a:t>⑨</a:t>
            </a:r>
          </a:p>
        </p:txBody>
      </p:sp>
      <p:sp>
        <p:nvSpPr>
          <p:cNvPr id="43" name="TextBox 42"/>
          <p:cNvSpPr txBox="1"/>
          <p:nvPr/>
        </p:nvSpPr>
        <p:spPr>
          <a:xfrm>
            <a:off x="822960" y="3063240"/>
            <a:ext cx="10607040" cy="731520"/>
          </a:xfrm>
          <a:prstGeom prst="rect">
            <a:avLst/>
          </a:prstGeom>
          <a:noFill/>
        </p:spPr>
        <p:txBody>
          <a:bodyPr wrap="square" anchor="t" lIns="0" rIns="0" tIns="0" bIns="0">
            <a:spAutoFit/>
          </a:bodyPr>
          <a:lstStyle/>
          <a:p>
            <a:pPr algn="l">
              <a:lnSpc>
                <a:spcPct val="145000"/>
              </a:lnSpc>
              <a:spcAft>
                <a:spcPts val="600"/>
              </a:spcAft>
            </a:pPr>
            <a:r>
              <a:rPr sz="1800" b="0">
                <a:solidFill>
                  <a:srgbClr val="1B2A24"/>
                </a:solidFill>
                <a:latin typeface="Zen Kaku Gothic New"/>
                <a:ea typeface="Zen Kaku Gothic New"/>
                <a:cs typeface="Zen Kaku Gothic New"/>
              </a:rPr>
              <a:t>リーチしてもリーチ・中のみだが、南、⑨はポンして</a:t>
            </a:r>
            <a:r>
              <a:rPr sz="1800" b="1">
                <a:solidFill>
                  <a:srgbClr val="C23B1E"/>
                </a:solidFill>
                <a:latin typeface="Zen Kaku Gothic New"/>
                <a:ea typeface="Zen Kaku Gothic New"/>
                <a:cs typeface="Zen Kaku Gothic New"/>
              </a:rPr>
              <a:t>先制両面聴牌</a:t>
            </a:r>
            <a:r>
              <a:rPr sz="1800" b="0">
                <a:solidFill>
                  <a:srgbClr val="1B2A24"/>
                </a:solidFill>
                <a:latin typeface="Zen Kaku Gothic New"/>
                <a:ea typeface="Zen Kaku Gothic New"/>
                <a:cs typeface="Zen Kaku Gothic New"/>
              </a:rPr>
              <a:t>が取れるイーシャンテン。</a:t>
            </a:r>
          </a:p>
        </p:txBody>
      </p:sp>
      <p:sp>
        <p:nvSpPr>
          <p:cNvPr id="44" name="TextBox 43"/>
          <p:cNvSpPr txBox="1"/>
          <p:nvPr/>
        </p:nvSpPr>
        <p:spPr>
          <a:xfrm>
            <a:off x="822960" y="3794760"/>
            <a:ext cx="10607040" cy="2560320"/>
          </a:xfrm>
          <a:prstGeom prst="rect">
            <a:avLst/>
          </a:prstGeom>
          <a:noFill/>
        </p:spPr>
        <p:txBody>
          <a:bodyPr wrap="square" anchor="t" lIns="0" rIns="0" tIns="0" bIns="0">
            <a:spAutoFit/>
          </a:bodyPr>
          <a:lstStyle/>
          <a:p>
            <a:pPr algn="l">
              <a:lnSpc>
                <a:spcPct val="145000"/>
              </a:lnSpc>
              <a:spcAft>
                <a:spcPts val="800"/>
              </a:spcAft>
            </a:pPr>
            <a:r>
              <a:rPr sz="1019" b="0">
                <a:solidFill>
                  <a:srgbClr val="C23B1E"/>
                </a:solidFill>
                <a:latin typeface="Zen Kaku Gothic New"/>
                <a:ea typeface="Zen Kaku Gothic New"/>
                <a:cs typeface="Zen Kaku Gothic New"/>
              </a:rPr>
              <a:t>■  </a:t>
            </a:r>
            <a:r>
              <a:rPr sz="1700" b="0">
                <a:solidFill>
                  <a:srgbClr val="1B2A24"/>
                </a:solidFill>
                <a:latin typeface="Zen Kaku Gothic New"/>
                <a:ea typeface="Zen Kaku Gothic New"/>
                <a:cs typeface="Zen Kaku Gothic New"/>
              </a:rPr>
              <a:t>ドラが絡まないので打点上昇する確率は低い。</a:t>
            </a:r>
            <a:r>
              <a:rPr sz="1700" b="1">
                <a:solidFill>
                  <a:srgbClr val="1B2A24"/>
                </a:solidFill>
                <a:latin typeface="Zen Kaku Gothic New"/>
                <a:ea typeface="Zen Kaku Gothic New"/>
                <a:cs typeface="Zen Kaku Gothic New"/>
              </a:rPr>
              <a:t>親を流すことを優先</a:t>
            </a:r>
          </a:p>
          <a:p>
            <a:pPr algn="l">
              <a:lnSpc>
                <a:spcPct val="145000"/>
              </a:lnSpc>
              <a:spcAft>
                <a:spcPts val="800"/>
              </a:spcAft>
            </a:pPr>
            <a:r>
              <a:rPr sz="1019" b="0">
                <a:solidFill>
                  <a:srgbClr val="C23B1E"/>
                </a:solidFill>
                <a:latin typeface="Zen Kaku Gothic New"/>
                <a:ea typeface="Zen Kaku Gothic New"/>
                <a:cs typeface="Zen Kaku Gothic New"/>
              </a:rPr>
              <a:t>■  </a:t>
            </a:r>
            <a:r>
              <a:rPr sz="1700" b="0">
                <a:solidFill>
                  <a:srgbClr val="1B2A24"/>
                </a:solidFill>
                <a:latin typeface="Zen Kaku Gothic New"/>
                <a:ea typeface="Zen Kaku Gothic New"/>
                <a:cs typeface="Zen Kaku Gothic New"/>
              </a:rPr>
              <a:t>自分にドラがないので</a:t>
            </a:r>
            <a:r>
              <a:rPr sz="1700" b="1">
                <a:solidFill>
                  <a:srgbClr val="1B2A24"/>
                </a:solidFill>
                <a:latin typeface="Zen Kaku Gothic New"/>
                <a:ea typeface="Zen Kaku Gothic New"/>
                <a:cs typeface="Zen Kaku Gothic New"/>
              </a:rPr>
              <a:t>他家の打点が高くなっている</a:t>
            </a:r>
            <a:r>
              <a:rPr sz="1700" b="0">
                <a:solidFill>
                  <a:srgbClr val="1B2A24"/>
                </a:solidFill>
                <a:latin typeface="Zen Kaku Gothic New"/>
                <a:ea typeface="Zen Kaku Gothic New"/>
                <a:cs typeface="Zen Kaku Gothic New"/>
              </a:rPr>
              <a:t>と予想し、かわしていく</a:t>
            </a:r>
          </a:p>
          <a:p>
            <a:pPr algn="l">
              <a:lnSpc>
                <a:spcPct val="145000"/>
              </a:lnSpc>
              <a:spcAft>
                <a:spcPts val="800"/>
              </a:spcAft>
            </a:pPr>
            <a:r>
              <a:rPr sz="1019" b="0">
                <a:solidFill>
                  <a:srgbClr val="C23B1E"/>
                </a:solidFill>
                <a:latin typeface="Zen Kaku Gothic New"/>
                <a:ea typeface="Zen Kaku Gothic New"/>
                <a:cs typeface="Zen Kaku Gothic New"/>
              </a:rPr>
              <a:t>■  </a:t>
            </a:r>
            <a:r>
              <a:rPr sz="1700" b="0">
                <a:solidFill>
                  <a:srgbClr val="1B2A24"/>
                </a:solidFill>
                <a:latin typeface="Zen Kaku Gothic New"/>
                <a:ea typeface="Zen Kaku Gothic New"/>
                <a:cs typeface="Zen Kaku Gothic New"/>
              </a:rPr>
              <a:t>これでリーチを打っても、他家のドラ爆とのめくりあいは期待値が低い</a:t>
            </a:r>
          </a:p>
          <a:p>
            <a:pPr algn="l">
              <a:lnSpc>
                <a:spcPct val="145000"/>
              </a:lnSpc>
              <a:spcAft>
                <a:spcPts val="800"/>
              </a:spcAft>
            </a:pPr>
            <a:r>
              <a:rPr sz="1019" b="0">
                <a:solidFill>
                  <a:srgbClr val="C23B1E"/>
                </a:solidFill>
                <a:latin typeface="Zen Kaku Gothic New"/>
                <a:ea typeface="Zen Kaku Gothic New"/>
                <a:cs typeface="Zen Kaku Gothic New"/>
              </a:rPr>
              <a:t>■  </a:t>
            </a:r>
            <a:r>
              <a:rPr sz="1700" b="0">
                <a:solidFill>
                  <a:srgbClr val="1B2A24"/>
                </a:solidFill>
                <a:latin typeface="Zen Kaku Gothic New"/>
                <a:ea typeface="Zen Kaku Gothic New"/>
                <a:cs typeface="Zen Kaku Gothic New"/>
              </a:rPr>
              <a:t>他家の先制リーチが入っていた場合、現物切って聴牌できなければオリ</a:t>
            </a:r>
          </a:p>
        </p:txBody>
      </p:sp>
      <p:sp>
        <p:nvSpPr>
          <p:cNvPr id="45" name="TextBox 44"/>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番外編　</a:t>
            </a:r>
            <a:r>
              <a:rPr sz="1100" b="1">
                <a:solidFill>
                  <a:srgbClr val="4E5F57"/>
                </a:solidFill>
                <a:latin typeface="Zen Kaku Gothic New"/>
                <a:ea typeface="Zen Kaku Gothic New"/>
                <a:cs typeface="Zen Kaku Gothic New"/>
              </a:rPr>
              <a:t>09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02920"/>
            <a:ext cx="109728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番外編 1　</a:t>
            </a:r>
            <a:r>
              <a:rPr sz="4400" b="0">
                <a:solidFill>
                  <a:srgbClr val="C23B1E"/>
                </a:solidFill>
                <a:latin typeface="Dela Gothic One"/>
                <a:ea typeface="Dela Gothic One"/>
                <a:cs typeface="Dela Gothic One"/>
              </a:rPr>
              <a:t>鳴け！</a:t>
            </a:r>
          </a:p>
        </p:txBody>
      </p:sp>
      <p:sp>
        <p:nvSpPr>
          <p:cNvPr id="3" name="TextBox 2"/>
          <p:cNvSpPr txBox="1"/>
          <p:nvPr/>
        </p:nvSpPr>
        <p:spPr>
          <a:xfrm>
            <a:off x="822960" y="1645920"/>
            <a:ext cx="10972800" cy="914400"/>
          </a:xfrm>
          <a:prstGeom prst="rect">
            <a:avLst/>
          </a:prstGeom>
          <a:noFill/>
        </p:spPr>
        <p:txBody>
          <a:bodyPr wrap="square" anchor="t" lIns="0" rIns="0" tIns="0" bIns="0">
            <a:spAutoFit/>
          </a:bodyPr>
          <a:lstStyle/>
          <a:p>
            <a:pPr algn="l">
              <a:lnSpc>
                <a:spcPct val="145000"/>
              </a:lnSpc>
              <a:spcAft>
                <a:spcPts val="600"/>
              </a:spcAft>
            </a:pPr>
            <a:r>
              <a:rPr sz="3400" b="0">
                <a:solidFill>
                  <a:srgbClr val="1B2A24"/>
                </a:solidFill>
                <a:latin typeface="Dela Gothic One"/>
                <a:ea typeface="Dela Gothic One"/>
                <a:cs typeface="Dela Gothic One"/>
              </a:rPr>
              <a:t>南ポンして⑨切りのホンイツは？</a:t>
            </a:r>
          </a:p>
        </p:txBody>
      </p:sp>
      <p:sp>
        <p:nvSpPr>
          <p:cNvPr id="4" name="TextBox 3"/>
          <p:cNvSpPr txBox="1"/>
          <p:nvPr/>
        </p:nvSpPr>
        <p:spPr>
          <a:xfrm>
            <a:off x="822960" y="2606040"/>
            <a:ext cx="6583680" cy="3657600"/>
          </a:xfrm>
          <a:prstGeom prst="rect">
            <a:avLst/>
          </a:prstGeom>
          <a:noFill/>
        </p:spPr>
        <p:txBody>
          <a:bodyPr wrap="square" anchor="t" lIns="0" rIns="0" tIns="0" bIns="0">
            <a:spAutoFit/>
          </a:bodyPr>
          <a:lstStyle/>
          <a:p>
            <a:pPr algn="l">
              <a:lnSpc>
                <a:spcPct val="150000"/>
              </a:lnSpc>
              <a:spcAft>
                <a:spcPts val="1000"/>
              </a:spcAft>
            </a:pPr>
            <a:r>
              <a:rPr sz="960" b="0">
                <a:solidFill>
                  <a:srgbClr val="C23B1E"/>
                </a:solidFill>
                <a:latin typeface="Zen Kaku Gothic New"/>
                <a:ea typeface="Zen Kaku Gothic New"/>
                <a:cs typeface="Zen Kaku Gothic New"/>
              </a:rPr>
              <a:t>■  </a:t>
            </a:r>
            <a:r>
              <a:rPr sz="1600" b="0">
                <a:solidFill>
                  <a:srgbClr val="1B2A24"/>
                </a:solidFill>
                <a:latin typeface="Zen Kaku Gothic New"/>
                <a:ea typeface="Zen Kaku Gothic New"/>
                <a:cs typeface="Zen Kaku Gothic New"/>
              </a:rPr>
              <a:t>最低でも（都合良く入ってきたとして）もう一巡かかるため</a:t>
            </a:r>
            <a:r>
              <a:rPr sz="1600" b="1">
                <a:solidFill>
                  <a:srgbClr val="C23B1E"/>
                </a:solidFill>
                <a:latin typeface="Zen Kaku Gothic New"/>
                <a:ea typeface="Zen Kaku Gothic New"/>
                <a:cs typeface="Zen Kaku Gothic New"/>
              </a:rPr>
              <a:t>却下</a:t>
            </a:r>
          </a:p>
          <a:p>
            <a:pPr algn="l">
              <a:lnSpc>
                <a:spcPct val="150000"/>
              </a:lnSpc>
              <a:spcAft>
                <a:spcPts val="1000"/>
              </a:spcAft>
            </a:pPr>
            <a:r>
              <a:rPr sz="960" b="0">
                <a:solidFill>
                  <a:srgbClr val="C23B1E"/>
                </a:solidFill>
                <a:latin typeface="Zen Kaku Gothic New"/>
                <a:ea typeface="Zen Kaku Gothic New"/>
                <a:cs typeface="Zen Kaku Gothic New"/>
              </a:rPr>
              <a:t>■  </a:t>
            </a:r>
            <a:r>
              <a:rPr sz="1600" b="1">
                <a:solidFill>
                  <a:srgbClr val="1B2A24"/>
                </a:solidFill>
                <a:latin typeface="Zen Kaku Gothic New"/>
                <a:ea typeface="Zen Kaku Gothic New"/>
                <a:cs typeface="Zen Kaku Gothic New"/>
              </a:rPr>
              <a:t>時間をかければかけるほど、他家の手もよくなっていくことを忘れるな</a:t>
            </a:r>
          </a:p>
          <a:p>
            <a:pPr algn="l">
              <a:lnSpc>
                <a:spcPct val="150000"/>
              </a:lnSpc>
              <a:spcAft>
                <a:spcPts val="1000"/>
              </a:spcAft>
            </a:pPr>
            <a:r>
              <a:rPr sz="960" b="0">
                <a:solidFill>
                  <a:srgbClr val="C23B1E"/>
                </a:solidFill>
                <a:latin typeface="Zen Kaku Gothic New"/>
                <a:ea typeface="Zen Kaku Gothic New"/>
                <a:cs typeface="Zen Kaku Gothic New"/>
              </a:rPr>
              <a:t>■  </a:t>
            </a:r>
            <a:r>
              <a:rPr sz="1600" b="0">
                <a:solidFill>
                  <a:srgbClr val="1B2A24"/>
                </a:solidFill>
                <a:latin typeface="Zen Kaku Gothic New"/>
                <a:ea typeface="Zen Kaku Gothic New"/>
                <a:cs typeface="Zen Kaku Gothic New"/>
              </a:rPr>
              <a:t>4のくっつきではあるが待ちが良くなりづらい（嬉しい変化は自分で2枚使っている3と5だけ）</a:t>
            </a:r>
          </a:p>
          <a:p>
            <a:pPr algn="l">
              <a:lnSpc>
                <a:spcPct val="150000"/>
              </a:lnSpc>
              <a:spcAft>
                <a:spcPts val="1000"/>
              </a:spcAft>
            </a:pPr>
            <a:r>
              <a:rPr sz="960" b="0">
                <a:solidFill>
                  <a:srgbClr val="C23B1E"/>
                </a:solidFill>
                <a:latin typeface="Zen Kaku Gothic New"/>
                <a:ea typeface="Zen Kaku Gothic New"/>
                <a:cs typeface="Zen Kaku Gothic New"/>
              </a:rPr>
              <a:t>■  </a:t>
            </a:r>
            <a:r>
              <a:rPr sz="1600" b="0">
                <a:solidFill>
                  <a:srgbClr val="4E5F57"/>
                </a:solidFill>
                <a:latin typeface="Zen Kaku Gothic New"/>
                <a:ea typeface="Zen Kaku Gothic New"/>
                <a:cs typeface="Zen Kaku Gothic New"/>
              </a:rPr>
              <a:t>面前、他家のスピードがなさそう、かつ⑨が他2人に対しての安全牌（になりそう）ならホンイツを採用してもよし。</a:t>
            </a:r>
            <a:r>
              <a:rPr sz="1600" b="1">
                <a:solidFill>
                  <a:srgbClr val="1B2A24"/>
                </a:solidFill>
                <a:latin typeface="Zen Kaku Gothic New"/>
                <a:ea typeface="Zen Kaku Gothic New"/>
                <a:cs typeface="Zen Kaku Gothic New"/>
              </a:rPr>
              <a:t>そんなの分からないだろうから採用しないが吉。</a:t>
            </a:r>
          </a:p>
        </p:txBody>
      </p:sp>
      <p:sp>
        <p:nvSpPr>
          <p:cNvPr id="5" name="Rectangle 4"/>
          <p:cNvSpPr/>
          <p:nvPr/>
        </p:nvSpPr>
        <p:spPr>
          <a:xfrm>
            <a:off x="7863840" y="2606040"/>
            <a:ext cx="3566160" cy="347472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788920"/>
            <a:ext cx="3017520" cy="3108960"/>
          </a:xfrm>
          <a:prstGeom prst="rect">
            <a:avLst/>
          </a:prstGeom>
          <a:noFill/>
        </p:spPr>
        <p:txBody>
          <a:bodyPr wrap="square" anchor="t" lIns="0" rIns="0" tIns="0" bIns="0">
            <a:spAutoFit/>
          </a:bodyPr>
          <a:lstStyle/>
          <a:p>
            <a:pPr algn="l">
              <a:lnSpc>
                <a:spcPct val="145000"/>
              </a:lnSpc>
              <a:spcAft>
                <a:spcPts val="600"/>
              </a:spcAft>
            </a:pPr>
            <a:r>
              <a:rPr sz="1500" b="0">
                <a:solidFill>
                  <a:srgbClr val="FFFFFF"/>
                </a:solidFill>
                <a:latin typeface="Zen Kaku Gothic New"/>
                <a:ea typeface="Zen Kaku Gothic New"/>
                <a:cs typeface="Zen Kaku Gothic New"/>
              </a:rPr>
              <a:t>スピードと打点のバランス、待ち、親流しのメリットと比較した時に、どう考えても釣り合わない。</a:t>
            </a:r>
          </a:p>
          <a:p>
            <a:pPr algn="l">
              <a:lnSpc>
                <a:spcPct val="145000"/>
              </a:lnSpc>
              <a:spcAft>
                <a:spcPts val="600"/>
              </a:spcAft>
            </a:pPr>
            <a:r>
              <a:rPr sz="1700" b="1">
                <a:solidFill>
                  <a:srgbClr val="FFFFFF"/>
                </a:solidFill>
                <a:latin typeface="Zen Kaku Gothic New"/>
                <a:ea typeface="Zen Kaku Gothic New"/>
                <a:cs typeface="Zen Kaku Gothic New"/>
              </a:rPr>
              <a:t>少しでも頭をよぎったら</a:t>
            </a:r>
          </a:p>
          <a:p>
            <a:pPr algn="l">
              <a:lnSpc>
                <a:spcPct val="145000"/>
              </a:lnSpc>
              <a:spcAft>
                <a:spcPts val="600"/>
              </a:spcAft>
            </a:pPr>
            <a:r>
              <a:rPr sz="6400" b="0">
                <a:solidFill>
                  <a:srgbClr val="FFFFFF"/>
                </a:solidFill>
                <a:latin typeface="Dela Gothic One"/>
                <a:ea typeface="Dela Gothic One"/>
                <a:cs typeface="Dela Gothic One"/>
              </a:rPr>
              <a:t>死刑</a:t>
            </a:r>
          </a:p>
        </p:txBody>
      </p:sp>
      <p:sp>
        <p:nvSpPr>
          <p:cNvPr id="7" name="TextBox 6"/>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番外編　</a:t>
            </a:r>
            <a:r>
              <a:rPr sz="1100" b="1">
                <a:solidFill>
                  <a:srgbClr val="4E5F57"/>
                </a:solidFill>
                <a:latin typeface="Zen Kaku Gothic New"/>
                <a:ea typeface="Zen Kaku Gothic New"/>
                <a:cs typeface="Zen Kaku Gothic New"/>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02920"/>
            <a:ext cx="109728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番外編 2　</a:t>
            </a:r>
            <a:r>
              <a:rPr sz="4400" b="0">
                <a:solidFill>
                  <a:srgbClr val="C23B1E"/>
                </a:solidFill>
                <a:latin typeface="Dela Gothic One"/>
                <a:ea typeface="Dela Gothic One"/>
                <a:cs typeface="Dela Gothic One"/>
              </a:rPr>
              <a:t>回し打ち（絶対）やめろ</a:t>
            </a:r>
          </a:p>
        </p:txBody>
      </p:sp>
      <p:sp>
        <p:nvSpPr>
          <p:cNvPr id="3" name="TextBox 2"/>
          <p:cNvSpPr txBox="1"/>
          <p:nvPr/>
        </p:nvSpPr>
        <p:spPr>
          <a:xfrm>
            <a:off x="822960" y="1600200"/>
            <a:ext cx="10515600" cy="731520"/>
          </a:xfrm>
          <a:prstGeom prst="rect">
            <a:avLst/>
          </a:prstGeom>
          <a:noFill/>
        </p:spPr>
        <p:txBody>
          <a:bodyPr wrap="square" anchor="t" lIns="0" rIns="0" tIns="0" bIns="0">
            <a:spAutoFit/>
          </a:bodyPr>
          <a:lstStyle/>
          <a:p>
            <a:pPr algn="l">
              <a:lnSpc>
                <a:spcPct val="145000"/>
              </a:lnSpc>
              <a:spcAft>
                <a:spcPts val="600"/>
              </a:spcAft>
            </a:pPr>
            <a:r>
              <a:rPr sz="1800" b="0">
                <a:solidFill>
                  <a:srgbClr val="1B2A24"/>
                </a:solidFill>
                <a:latin typeface="Zen Kaku Gothic New"/>
                <a:ea typeface="Zen Kaku Gothic New"/>
                <a:cs typeface="Zen Kaku Gothic New"/>
              </a:rPr>
              <a:t>下手なヤツが回し打ちすると、途中から欲かいて危険牌バンバン切り出すから</a:t>
            </a:r>
            <a:r>
              <a:rPr sz="1800" b="1">
                <a:solidFill>
                  <a:srgbClr val="C23B1E"/>
                </a:solidFill>
                <a:latin typeface="Zen Kaku Gothic New"/>
                <a:ea typeface="Zen Kaku Gothic New"/>
                <a:cs typeface="Zen Kaku Gothic New"/>
              </a:rPr>
              <a:t>絶対にやめろ。</a:t>
            </a:r>
          </a:p>
        </p:txBody>
      </p:sp>
      <p:sp>
        <p:nvSpPr>
          <p:cNvPr id="4" name="Rectangle 3"/>
          <p:cNvSpPr/>
          <p:nvPr/>
        </p:nvSpPr>
        <p:spPr>
          <a:xfrm>
            <a:off x="822960" y="2468880"/>
            <a:ext cx="2788920" cy="1554480"/>
          </a:xfrm>
          <a:prstGeom prst="rect">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60320"/>
            <a:ext cx="2788920" cy="1371600"/>
          </a:xfrm>
          <a:prstGeom prst="rect">
            <a:avLst/>
          </a:prstGeom>
          <a:noFill/>
        </p:spPr>
        <p:txBody>
          <a:bodyPr wrap="square" anchor="ctr" lIns="0" rIns="0" tIns="0" bIns="0">
            <a:spAutoFit/>
          </a:bodyPr>
          <a:lstStyle/>
          <a:p>
            <a:pPr algn="ctr">
              <a:lnSpc>
                <a:spcPct val="120000"/>
              </a:lnSpc>
              <a:spcAft>
                <a:spcPts val="200"/>
              </a:spcAft>
            </a:pPr>
            <a:r>
              <a:rPr sz="1400" b="1">
                <a:solidFill>
                  <a:srgbClr val="F5F1E6"/>
                </a:solidFill>
                <a:latin typeface="Zen Kaku Gothic New"/>
                <a:ea typeface="Zen Kaku Gothic New"/>
                <a:cs typeface="Zen Kaku Gothic New"/>
              </a:rPr>
              <a:t>全ツッパ</a:t>
            </a:r>
          </a:p>
          <a:p>
            <a:pPr algn="ctr">
              <a:lnSpc>
                <a:spcPct val="120000"/>
              </a:lnSpc>
              <a:spcAft>
                <a:spcPts val="200"/>
              </a:spcAft>
            </a:pPr>
            <a:r>
              <a:rPr sz="4000" b="0">
                <a:solidFill>
                  <a:srgbClr val="F5F1E6"/>
                </a:solidFill>
                <a:latin typeface="Dela Gothic One"/>
                <a:ea typeface="Dela Gothic One"/>
                <a:cs typeface="Dela Gothic One"/>
              </a:rPr>
              <a:t>ゼンツ</a:t>
            </a:r>
          </a:p>
        </p:txBody>
      </p:sp>
      <p:sp>
        <p:nvSpPr>
          <p:cNvPr id="6" name="Rectangle 5"/>
          <p:cNvSpPr/>
          <p:nvPr/>
        </p:nvSpPr>
        <p:spPr>
          <a:xfrm>
            <a:off x="3886200" y="2468880"/>
            <a:ext cx="2788920" cy="155448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2560320"/>
            <a:ext cx="2788920" cy="1371600"/>
          </a:xfrm>
          <a:prstGeom prst="rect">
            <a:avLst/>
          </a:prstGeom>
          <a:noFill/>
        </p:spPr>
        <p:txBody>
          <a:bodyPr wrap="square" anchor="ctr" lIns="0" rIns="0" tIns="0" bIns="0">
            <a:spAutoFit/>
          </a:bodyPr>
          <a:lstStyle/>
          <a:p>
            <a:pPr algn="ctr">
              <a:lnSpc>
                <a:spcPct val="120000"/>
              </a:lnSpc>
              <a:spcAft>
                <a:spcPts val="200"/>
              </a:spcAft>
            </a:pPr>
            <a:r>
              <a:rPr sz="1400" b="1">
                <a:solidFill>
                  <a:srgbClr val="4E5F57"/>
                </a:solidFill>
                <a:latin typeface="Zen Kaku Gothic New"/>
                <a:ea typeface="Zen Kaku Gothic New"/>
                <a:cs typeface="Zen Kaku Gothic New"/>
              </a:rPr>
              <a:t>現物抜き打って</a:t>
            </a:r>
          </a:p>
          <a:p>
            <a:pPr algn="ctr">
              <a:lnSpc>
                <a:spcPct val="120000"/>
              </a:lnSpc>
              <a:spcAft>
                <a:spcPts val="200"/>
              </a:spcAft>
            </a:pPr>
            <a:r>
              <a:rPr sz="4000" b="0">
                <a:solidFill>
                  <a:srgbClr val="1B2A24"/>
                </a:solidFill>
                <a:latin typeface="Dela Gothic One"/>
                <a:ea typeface="Dela Gothic One"/>
                <a:cs typeface="Dela Gothic One"/>
              </a:rPr>
              <a:t>ベタオリ</a:t>
            </a:r>
          </a:p>
        </p:txBody>
      </p:sp>
      <p:sp>
        <p:nvSpPr>
          <p:cNvPr id="8" name="TextBox 7"/>
          <p:cNvSpPr txBox="1"/>
          <p:nvPr/>
        </p:nvSpPr>
        <p:spPr>
          <a:xfrm>
            <a:off x="822960" y="4160520"/>
            <a:ext cx="5852160" cy="457200"/>
          </a:xfrm>
          <a:prstGeom prst="rect">
            <a:avLst/>
          </a:prstGeom>
          <a:noFill/>
        </p:spPr>
        <p:txBody>
          <a:bodyPr wrap="square" anchor="t" lIns="0" rIns="0" tIns="0" bIns="0">
            <a:spAutoFit/>
          </a:bodyPr>
          <a:lstStyle/>
          <a:p>
            <a:pPr algn="l">
              <a:lnSpc>
                <a:spcPct val="145000"/>
              </a:lnSpc>
              <a:spcAft>
                <a:spcPts val="600"/>
              </a:spcAft>
            </a:pPr>
            <a:r>
              <a:rPr sz="2000" b="1">
                <a:solidFill>
                  <a:srgbClr val="1B2A24"/>
                </a:solidFill>
                <a:latin typeface="Zen Kaku Gothic New"/>
                <a:ea typeface="Zen Kaku Gothic New"/>
                <a:cs typeface="Zen Kaku Gothic New"/>
              </a:rPr>
              <a:t>どちらかに振り切れ。</a:t>
            </a:r>
          </a:p>
        </p:txBody>
      </p:sp>
      <p:sp>
        <p:nvSpPr>
          <p:cNvPr id="9" name="TextBox 8"/>
          <p:cNvSpPr txBox="1"/>
          <p:nvPr/>
        </p:nvSpPr>
        <p:spPr>
          <a:xfrm>
            <a:off x="822960" y="4709160"/>
            <a:ext cx="5760720" cy="1645920"/>
          </a:xfrm>
          <a:prstGeom prst="rect">
            <a:avLst/>
          </a:prstGeom>
          <a:noFill/>
        </p:spPr>
        <p:txBody>
          <a:bodyPr wrap="square" anchor="t" lIns="0" rIns="0" tIns="0" bIns="0">
            <a:spAutoFit/>
          </a:bodyPr>
          <a:lstStyle/>
          <a:p>
            <a:pPr algn="l">
              <a:lnSpc>
                <a:spcPct val="150000"/>
              </a:lnSpc>
              <a:spcAft>
                <a:spcPts val="600"/>
              </a:spcAft>
            </a:pPr>
            <a:r>
              <a:rPr sz="1500" b="0">
                <a:solidFill>
                  <a:srgbClr val="4E5F57"/>
                </a:solidFill>
                <a:latin typeface="Zen Kaku Gothic New"/>
                <a:ea typeface="Zen Kaku Gothic New"/>
                <a:cs typeface="Zen Kaku Gothic New"/>
              </a:rPr>
              <a:t>その時にも点棒状況とシャンテン数と打点、聴牌形を考慮しろ。統計的にも出てるから、それは自分で覚えろ。</a:t>
            </a:r>
          </a:p>
        </p:txBody>
      </p:sp>
      <p:sp>
        <p:nvSpPr>
          <p:cNvPr id="10" name="Rectangle 9"/>
          <p:cNvSpPr/>
          <p:nvPr/>
        </p:nvSpPr>
        <p:spPr>
          <a:xfrm>
            <a:off x="7086600" y="2468880"/>
            <a:ext cx="36576" cy="3657600"/>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2468880"/>
            <a:ext cx="4023360" cy="3749039"/>
          </a:xfrm>
          <a:prstGeom prst="rect">
            <a:avLst/>
          </a:prstGeom>
          <a:noFill/>
        </p:spPr>
        <p:txBody>
          <a:bodyPr wrap="square" anchor="t" lIns="0" rIns="0" tIns="0" bIns="0">
            <a:spAutoFit/>
          </a:bodyPr>
          <a:lstStyle/>
          <a:p>
            <a:pPr algn="l">
              <a:lnSpc>
                <a:spcPct val="150000"/>
              </a:lnSpc>
              <a:spcAft>
                <a:spcPts val="1000"/>
              </a:spcAft>
            </a:pPr>
            <a:r>
              <a:rPr sz="1700" b="0">
                <a:solidFill>
                  <a:srgbClr val="1B2A24"/>
                </a:solidFill>
                <a:latin typeface="Zen Kaku Gothic New"/>
                <a:ea typeface="Zen Kaku Gothic New"/>
                <a:cs typeface="Zen Kaku Gothic New"/>
              </a:rPr>
              <a:t>いつもそれで痛い目見てることを自覚しろ。</a:t>
            </a:r>
          </a:p>
          <a:p>
            <a:pPr algn="l">
              <a:lnSpc>
                <a:spcPct val="150000"/>
              </a:lnSpc>
              <a:spcAft>
                <a:spcPts val="1000"/>
              </a:spcAft>
            </a:pPr>
            <a:r>
              <a:rPr sz="1700" b="0">
                <a:solidFill>
                  <a:srgbClr val="1B2A24"/>
                </a:solidFill>
                <a:latin typeface="Zen Kaku Gothic New"/>
                <a:ea typeface="Zen Kaku Gothic New"/>
                <a:cs typeface="Zen Kaku Gothic New"/>
              </a:rPr>
              <a:t>低打点の愚形待ちゼンツして、いじられて煽られてキレるな。</a:t>
            </a:r>
          </a:p>
          <a:p>
            <a:pPr algn="l">
              <a:lnSpc>
                <a:spcPct val="150000"/>
              </a:lnSpc>
              <a:spcAft>
                <a:spcPts val="1000"/>
              </a:spcAft>
            </a:pPr>
            <a:r>
              <a:rPr sz="2600" b="0">
                <a:solidFill>
                  <a:srgbClr val="C23B1E"/>
                </a:solidFill>
                <a:latin typeface="Dela Gothic One"/>
                <a:ea typeface="Dela Gothic One"/>
                <a:cs typeface="Dela Gothic One"/>
              </a:rPr>
              <a:t>チンパンプレイしてる</a:t>
            </a:r>
          </a:p>
          <a:p>
            <a:pPr algn="l">
              <a:lnSpc>
                <a:spcPct val="150000"/>
              </a:lnSpc>
              <a:spcAft>
                <a:spcPts val="1000"/>
              </a:spcAft>
            </a:pPr>
            <a:r>
              <a:rPr sz="2600" b="0">
                <a:solidFill>
                  <a:srgbClr val="C23B1E"/>
                </a:solidFill>
                <a:latin typeface="Dela Gothic One"/>
                <a:ea typeface="Dela Gothic One"/>
                <a:cs typeface="Dela Gothic One"/>
              </a:rPr>
              <a:t>自分を恥じろ！</a:t>
            </a:r>
          </a:p>
        </p:txBody>
      </p:sp>
      <p:sp>
        <p:nvSpPr>
          <p:cNvPr id="12" name="TextBox 11"/>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番外編　</a:t>
            </a:r>
            <a:r>
              <a:rPr sz="1100" b="1">
                <a:solidFill>
                  <a:srgbClr val="4E5F57"/>
                </a:solidFill>
                <a:latin typeface="Zen Kaku Gothic New"/>
                <a:ea typeface="Zen Kaku Gothic New"/>
                <a:cs typeface="Zen Kaku Gothic New"/>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502920"/>
            <a:ext cx="109728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番外編 2　</a:t>
            </a:r>
            <a:r>
              <a:rPr sz="4400" b="0">
                <a:solidFill>
                  <a:srgbClr val="C23B1E"/>
                </a:solidFill>
                <a:latin typeface="Dela Gothic One"/>
                <a:ea typeface="Dela Gothic One"/>
                <a:cs typeface="Dela Gothic One"/>
              </a:rPr>
              <a:t>ちなみに</a:t>
            </a:r>
          </a:p>
        </p:txBody>
      </p:sp>
      <p:sp>
        <p:nvSpPr>
          <p:cNvPr id="3" name="Rectangle 2"/>
          <p:cNvSpPr/>
          <p:nvPr/>
        </p:nvSpPr>
        <p:spPr>
          <a:xfrm>
            <a:off x="822960" y="1783080"/>
            <a:ext cx="3337560" cy="54864"/>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3337560" cy="548640"/>
          </a:xfrm>
          <a:prstGeom prst="rect">
            <a:avLst/>
          </a:prstGeom>
          <a:noFill/>
        </p:spPr>
        <p:txBody>
          <a:bodyPr wrap="square" anchor="t" lIns="0" rIns="0" tIns="0" bIns="0">
            <a:spAutoFit/>
          </a:bodyPr>
          <a:lstStyle/>
          <a:p>
            <a:pPr algn="l">
              <a:lnSpc>
                <a:spcPct val="145000"/>
              </a:lnSpc>
              <a:spcAft>
                <a:spcPts val="600"/>
              </a:spcAft>
            </a:pPr>
            <a:r>
              <a:rPr sz="2400" b="0">
                <a:solidFill>
                  <a:srgbClr val="1B2A24"/>
                </a:solidFill>
                <a:latin typeface="Dela Gothic One"/>
                <a:ea typeface="Dela Gothic One"/>
                <a:cs typeface="Dela Gothic One"/>
              </a:rPr>
              <a:t>Iさんの場合</a:t>
            </a:r>
          </a:p>
        </p:txBody>
      </p:sp>
      <p:sp>
        <p:nvSpPr>
          <p:cNvPr id="5" name="TextBox 4"/>
          <p:cNvSpPr txBox="1"/>
          <p:nvPr/>
        </p:nvSpPr>
        <p:spPr>
          <a:xfrm>
            <a:off x="822960" y="2697480"/>
            <a:ext cx="3337560" cy="3566160"/>
          </a:xfrm>
          <a:prstGeom prst="rect">
            <a:avLst/>
          </a:prstGeom>
          <a:noFill/>
        </p:spPr>
        <p:txBody>
          <a:bodyPr wrap="square" anchor="t" lIns="0" rIns="0" tIns="0" bIns="0">
            <a:spAutoFit/>
          </a:bodyPr>
          <a:lstStyle/>
          <a:p>
            <a:pPr algn="l">
              <a:lnSpc>
                <a:spcPct val="170000"/>
              </a:lnSpc>
              <a:spcAft>
                <a:spcPts val="600"/>
              </a:spcAft>
            </a:pPr>
            <a:r>
              <a:rPr sz="1600" b="0">
                <a:solidFill>
                  <a:srgbClr val="4E5F57"/>
                </a:solidFill>
                <a:latin typeface="Zen Kaku Gothic New"/>
                <a:ea typeface="Zen Kaku Gothic New"/>
                <a:cs typeface="Zen Kaku Gothic New"/>
              </a:rPr>
              <a:t>Iさんは相手の待ちを読むのが上手いゆえに、回し打ちをして攻めてくる傾向があるが、それはIさんだからできること。</a:t>
            </a:r>
          </a:p>
        </p:txBody>
      </p:sp>
      <p:sp>
        <p:nvSpPr>
          <p:cNvPr id="6" name="Rectangle 5"/>
          <p:cNvSpPr/>
          <p:nvPr/>
        </p:nvSpPr>
        <p:spPr>
          <a:xfrm>
            <a:off x="4434840" y="1783080"/>
            <a:ext cx="3337560" cy="54864"/>
          </a:xfrm>
          <a:prstGeom prst="rect">
            <a:avLst/>
          </a:prstGeom>
          <a:solidFill>
            <a:srgbClr val="C9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2011680"/>
            <a:ext cx="3337560" cy="548640"/>
          </a:xfrm>
          <a:prstGeom prst="rect">
            <a:avLst/>
          </a:prstGeom>
          <a:noFill/>
        </p:spPr>
        <p:txBody>
          <a:bodyPr wrap="square" anchor="t" lIns="0" rIns="0" tIns="0" bIns="0">
            <a:spAutoFit/>
          </a:bodyPr>
          <a:lstStyle/>
          <a:p>
            <a:pPr algn="l">
              <a:lnSpc>
                <a:spcPct val="145000"/>
              </a:lnSpc>
              <a:spcAft>
                <a:spcPts val="600"/>
              </a:spcAft>
            </a:pPr>
            <a:r>
              <a:rPr sz="2400" b="0">
                <a:solidFill>
                  <a:srgbClr val="1B2A24"/>
                </a:solidFill>
                <a:latin typeface="Dela Gothic One"/>
                <a:ea typeface="Dela Gothic One"/>
                <a:cs typeface="Dela Gothic One"/>
              </a:rPr>
              <a:t>対策</a:t>
            </a:r>
          </a:p>
        </p:txBody>
      </p:sp>
      <p:sp>
        <p:nvSpPr>
          <p:cNvPr id="8" name="TextBox 7"/>
          <p:cNvSpPr txBox="1"/>
          <p:nvPr/>
        </p:nvSpPr>
        <p:spPr>
          <a:xfrm>
            <a:off x="4434840" y="2697480"/>
            <a:ext cx="3337560" cy="3566160"/>
          </a:xfrm>
          <a:prstGeom prst="rect">
            <a:avLst/>
          </a:prstGeom>
          <a:noFill/>
        </p:spPr>
        <p:txBody>
          <a:bodyPr wrap="square" anchor="t" lIns="0" rIns="0" tIns="0" bIns="0">
            <a:spAutoFit/>
          </a:bodyPr>
          <a:lstStyle/>
          <a:p>
            <a:pPr algn="l">
              <a:lnSpc>
                <a:spcPct val="170000"/>
              </a:lnSpc>
              <a:spcAft>
                <a:spcPts val="600"/>
              </a:spcAft>
            </a:pPr>
            <a:r>
              <a:rPr sz="1600" b="0">
                <a:solidFill>
                  <a:srgbClr val="4E5F57"/>
                </a:solidFill>
                <a:latin typeface="Zen Kaku Gothic New"/>
                <a:ea typeface="Zen Kaku Gothic New"/>
                <a:cs typeface="Zen Kaku Gothic New"/>
              </a:rPr>
              <a:t>けれどもリーチをかけていればそれなりに遠回りさせられるし、おそらく本人にも自信があるからこそ聴牌や一向聴では勝負牌を切り出してくる。自分が良形聴牌していれば、Iさんからはあがりやすいと言える。</a:t>
            </a:r>
          </a:p>
        </p:txBody>
      </p:sp>
      <p:sp>
        <p:nvSpPr>
          <p:cNvPr id="9" name="Rectangle 8"/>
          <p:cNvSpPr/>
          <p:nvPr/>
        </p:nvSpPr>
        <p:spPr>
          <a:xfrm>
            <a:off x="8046720" y="1783080"/>
            <a:ext cx="3337560" cy="54864"/>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337560" cy="548640"/>
          </a:xfrm>
          <a:prstGeom prst="rect">
            <a:avLst/>
          </a:prstGeom>
          <a:noFill/>
        </p:spPr>
        <p:txBody>
          <a:bodyPr wrap="square" anchor="t" lIns="0" rIns="0" tIns="0" bIns="0">
            <a:spAutoFit/>
          </a:bodyPr>
          <a:lstStyle/>
          <a:p>
            <a:pPr algn="l">
              <a:lnSpc>
                <a:spcPct val="145000"/>
              </a:lnSpc>
              <a:spcAft>
                <a:spcPts val="600"/>
              </a:spcAft>
            </a:pPr>
            <a:r>
              <a:rPr sz="2400" b="0">
                <a:solidFill>
                  <a:srgbClr val="C23B1E"/>
                </a:solidFill>
                <a:latin typeface="Dela Gothic One"/>
                <a:ea typeface="Dela Gothic One"/>
                <a:cs typeface="Dela Gothic One"/>
              </a:rPr>
              <a:t>結論</a:t>
            </a:r>
          </a:p>
        </p:txBody>
      </p:sp>
      <p:sp>
        <p:nvSpPr>
          <p:cNvPr id="11" name="TextBox 10"/>
          <p:cNvSpPr txBox="1"/>
          <p:nvPr/>
        </p:nvSpPr>
        <p:spPr>
          <a:xfrm>
            <a:off x="8046720" y="2697480"/>
            <a:ext cx="3337560" cy="3566160"/>
          </a:xfrm>
          <a:prstGeom prst="rect">
            <a:avLst/>
          </a:prstGeom>
          <a:noFill/>
        </p:spPr>
        <p:txBody>
          <a:bodyPr wrap="square" anchor="t" lIns="0" rIns="0" tIns="0" bIns="0">
            <a:spAutoFit/>
          </a:bodyPr>
          <a:lstStyle/>
          <a:p>
            <a:pPr algn="l">
              <a:lnSpc>
                <a:spcPct val="170000"/>
              </a:lnSpc>
              <a:spcAft>
                <a:spcPts val="600"/>
              </a:spcAft>
            </a:pPr>
            <a:r>
              <a:rPr sz="1600" b="1">
                <a:solidFill>
                  <a:srgbClr val="1B2A24"/>
                </a:solidFill>
                <a:latin typeface="Zen Kaku Gothic New"/>
                <a:ea typeface="Zen Kaku Gothic New"/>
                <a:cs typeface="Zen Kaku Gothic New"/>
              </a:rPr>
              <a:t>相手の待ちは（マイティの場合特に）結論本人しかわからないので、真似して中途半端な知識で精度の低い回し打ちをするより、目に見えている確実なものだけで進行するほうが成績は安定する。</a:t>
            </a:r>
          </a:p>
        </p:txBody>
      </p:sp>
      <p:sp>
        <p:nvSpPr>
          <p:cNvPr id="12" name="TextBox 11"/>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番外編　</a:t>
            </a:r>
            <a:r>
              <a:rPr sz="1100" b="1">
                <a:solidFill>
                  <a:srgbClr val="4E5F57"/>
                </a:solidFill>
                <a:latin typeface="Zen Kaku Gothic New"/>
                <a:ea typeface="Zen Kaku Gothic New"/>
                <a:cs typeface="Zen Kaku Gothic New"/>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77724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おまけ　</a:t>
            </a:r>
            <a:r>
              <a:rPr sz="4400" b="0">
                <a:solidFill>
                  <a:srgbClr val="1B2A24"/>
                </a:solidFill>
                <a:latin typeface="Dela Gothic One"/>
                <a:ea typeface="Dela Gothic One"/>
                <a:cs typeface="Dela Gothic One"/>
              </a:rPr>
              <a:t>ポンする？しない？</a:t>
            </a:r>
          </a:p>
        </p:txBody>
      </p:sp>
      <p:sp>
        <p:nvSpPr>
          <p:cNvPr id="3" name="Rectangle 2"/>
          <p:cNvSpPr/>
          <p:nvPr/>
        </p:nvSpPr>
        <p:spPr>
          <a:xfrm>
            <a:off x="9418320" y="566928"/>
            <a:ext cx="2011680" cy="77724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566928"/>
            <a:ext cx="2011680" cy="777240"/>
          </a:xfrm>
          <a:prstGeom prst="rect">
            <a:avLst/>
          </a:prstGeom>
          <a:noFill/>
        </p:spPr>
        <p:txBody>
          <a:bodyPr wrap="square" anchor="ctr" lIns="0" rIns="0" tIns="0" bIns="0">
            <a:spAutoFit/>
          </a:bodyPr>
          <a:lstStyle/>
          <a:p>
            <a:pPr algn="ctr">
              <a:lnSpc>
                <a:spcPct val="100000"/>
              </a:lnSpc>
              <a:spcAft>
                <a:spcPts val="0"/>
              </a:spcAft>
            </a:pPr>
            <a:r>
              <a:rPr sz="1400" b="1">
                <a:solidFill>
                  <a:srgbClr val="FFFFFF"/>
                </a:solidFill>
                <a:latin typeface="Zen Kaku Gothic New"/>
                <a:ea typeface="Zen Kaku Gothic New"/>
                <a:cs typeface="Zen Kaku Gothic New"/>
              </a:rPr>
              <a:t>1問</a:t>
            </a:r>
            <a:r>
              <a:rPr sz="2600" b="0">
                <a:solidFill>
                  <a:srgbClr val="FFFFFF"/>
                </a:solidFill>
                <a:latin typeface="Dela Gothic One"/>
                <a:ea typeface="Dela Gothic One"/>
                <a:cs typeface="Dela Gothic One"/>
              </a:rPr>
              <a:t>30秒</a:t>
            </a:r>
          </a:p>
        </p:txBody>
      </p:sp>
      <p:sp>
        <p:nvSpPr>
          <p:cNvPr id="5" name="TextBox 4"/>
          <p:cNvSpPr txBox="1"/>
          <p:nvPr/>
        </p:nvSpPr>
        <p:spPr>
          <a:xfrm>
            <a:off x="822960" y="1371600"/>
            <a:ext cx="8229600" cy="365760"/>
          </a:xfrm>
          <a:prstGeom prst="rect">
            <a:avLst/>
          </a:prstGeom>
          <a:noFill/>
        </p:spPr>
        <p:txBody>
          <a:bodyPr wrap="square" anchor="t" lIns="0" rIns="0" tIns="0" bIns="0">
            <a:spAutoFit/>
          </a:bodyPr>
          <a:lstStyle/>
          <a:p>
            <a:pPr algn="l">
              <a:lnSpc>
                <a:spcPct val="145000"/>
              </a:lnSpc>
              <a:spcAft>
                <a:spcPts val="600"/>
              </a:spcAft>
            </a:pPr>
            <a:r>
              <a:rPr sz="1400" b="0">
                <a:solidFill>
                  <a:srgbClr val="4E5F57"/>
                </a:solidFill>
                <a:latin typeface="Zen Kaku Gothic New"/>
                <a:ea typeface="Zen Kaku Gothic New"/>
                <a:cs typeface="Zen Kaku Gothic New"/>
              </a:rPr>
              <a:t>全4問</a:t>
            </a:r>
          </a:p>
        </p:txBody>
      </p:sp>
      <p:sp>
        <p:nvSpPr>
          <p:cNvPr id="6" name="TextBox 5"/>
          <p:cNvSpPr txBox="1"/>
          <p:nvPr/>
        </p:nvSpPr>
        <p:spPr>
          <a:xfrm>
            <a:off x="822960" y="1828800"/>
            <a:ext cx="1737360" cy="914400"/>
          </a:xfrm>
          <a:prstGeom prst="rect">
            <a:avLst/>
          </a:prstGeom>
          <a:noFill/>
        </p:spPr>
        <p:txBody>
          <a:bodyPr wrap="square" anchor="t" lIns="0" rIns="0" tIns="0" bIns="0">
            <a:spAutoFit/>
          </a:bodyPr>
          <a:lstStyle/>
          <a:p>
            <a:pPr algn="l">
              <a:lnSpc>
                <a:spcPct val="100000"/>
              </a:lnSpc>
              <a:spcAft>
                <a:spcPts val="600"/>
              </a:spcAft>
            </a:pPr>
            <a:r>
              <a:rPr sz="3600" b="0">
                <a:solidFill>
                  <a:srgbClr val="C23B1E"/>
                </a:solidFill>
                <a:latin typeface="Dela Gothic One"/>
                <a:ea typeface="Dela Gothic One"/>
                <a:cs typeface="Dela Gothic One"/>
              </a:rPr>
              <a:t>①</a:t>
            </a:r>
          </a:p>
        </p:txBody>
      </p:sp>
      <p:sp>
        <p:nvSpPr>
          <p:cNvPr id="7" name="TextBox 6"/>
          <p:cNvSpPr txBox="1"/>
          <p:nvPr/>
        </p:nvSpPr>
        <p:spPr>
          <a:xfrm>
            <a:off x="2468880" y="1847088"/>
            <a:ext cx="9144000" cy="457200"/>
          </a:xfrm>
          <a:prstGeom prst="rect">
            <a:avLst/>
          </a:prstGeom>
          <a:noFill/>
        </p:spPr>
        <p:txBody>
          <a:bodyPr wrap="square" anchor="t" lIns="0" rIns="0" tIns="0" bIns="0">
            <a:spAutoFit/>
          </a:bodyPr>
          <a:lstStyle/>
          <a:p>
            <a:pPr algn="l">
              <a:lnSpc>
                <a:spcPct val="145000"/>
              </a:lnSpc>
              <a:spcAft>
                <a:spcPts val="600"/>
              </a:spcAft>
            </a:pPr>
            <a:r>
              <a:rPr sz="1600" b="1">
                <a:solidFill>
                  <a:srgbClr val="4E5F57"/>
                </a:solidFill>
                <a:latin typeface="Zen Kaku Gothic New"/>
                <a:ea typeface="Zen Kaku Gothic New"/>
                <a:cs typeface="Zen Kaku Gothic New"/>
              </a:rPr>
              <a:t>三麻　東一局　西家　3巡目　35000点持ち</a:t>
            </a:r>
          </a:p>
        </p:txBody>
      </p:sp>
      <p:sp>
        <p:nvSpPr>
          <p:cNvPr id="8" name="TextBox 7"/>
          <p:cNvSpPr txBox="1"/>
          <p:nvPr/>
        </p:nvSpPr>
        <p:spPr>
          <a:xfrm>
            <a:off x="2468880" y="2212848"/>
            <a:ext cx="9144000" cy="548640"/>
          </a:xfrm>
          <a:prstGeom prst="rect">
            <a:avLst/>
          </a:prstGeom>
          <a:noFill/>
        </p:spPr>
        <p:txBody>
          <a:bodyPr wrap="square" anchor="t" lIns="0" rIns="0" tIns="0" bIns="0">
            <a:spAutoFit/>
          </a:bodyPr>
          <a:lstStyle/>
          <a:p>
            <a:pPr algn="l">
              <a:lnSpc>
                <a:spcPct val="145000"/>
              </a:lnSpc>
              <a:spcAft>
                <a:spcPts val="600"/>
              </a:spcAft>
            </a:pPr>
            <a:r>
              <a:rPr sz="2200" b="1">
                <a:solidFill>
                  <a:srgbClr val="1B2A24"/>
                </a:solidFill>
                <a:latin typeface="Zen Kaku Gothic New"/>
                <a:ea typeface="Zen Kaku Gothic New"/>
                <a:cs typeface="Zen Kaku Gothic New"/>
              </a:rPr>
              <a:t>東家から 東（2枚目）</a:t>
            </a:r>
          </a:p>
        </p:txBody>
      </p:sp>
      <p:sp>
        <p:nvSpPr>
          <p:cNvPr id="9" name="Rectangle 8"/>
          <p:cNvSpPr/>
          <p:nvPr/>
        </p:nvSpPr>
        <p:spPr>
          <a:xfrm>
            <a:off x="2468879" y="2706624"/>
            <a:ext cx="5632704" cy="1282519"/>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3.png"/>
          <p:cNvPicPr>
            <a:picLocks noChangeAspect="1"/>
          </p:cNvPicPr>
          <p:nvPr/>
        </p:nvPicPr>
        <p:blipFill>
          <a:blip r:embed="rId2"/>
          <a:stretch>
            <a:fillRect/>
          </a:stretch>
        </p:blipFill>
        <p:spPr>
          <a:xfrm>
            <a:off x="2633472" y="2834640"/>
            <a:ext cx="5303520" cy="1026487"/>
          </a:xfrm>
          <a:prstGeom prst="rect">
            <a:avLst/>
          </a:prstGeom>
        </p:spPr>
      </p:pic>
      <p:sp>
        <p:nvSpPr>
          <p:cNvPr id="11" name="TextBox 10"/>
          <p:cNvSpPr txBox="1"/>
          <p:nvPr/>
        </p:nvSpPr>
        <p:spPr>
          <a:xfrm>
            <a:off x="822960" y="4206240"/>
            <a:ext cx="1737360" cy="914400"/>
          </a:xfrm>
          <a:prstGeom prst="rect">
            <a:avLst/>
          </a:prstGeom>
          <a:noFill/>
        </p:spPr>
        <p:txBody>
          <a:bodyPr wrap="square" anchor="t" lIns="0" rIns="0" tIns="0" bIns="0">
            <a:spAutoFit/>
          </a:bodyPr>
          <a:lstStyle/>
          <a:p>
            <a:pPr algn="l">
              <a:lnSpc>
                <a:spcPct val="100000"/>
              </a:lnSpc>
              <a:spcAft>
                <a:spcPts val="600"/>
              </a:spcAft>
            </a:pPr>
            <a:r>
              <a:rPr sz="3600" b="0">
                <a:solidFill>
                  <a:srgbClr val="C23B1E"/>
                </a:solidFill>
                <a:latin typeface="Dela Gothic One"/>
                <a:ea typeface="Dela Gothic One"/>
                <a:cs typeface="Dela Gothic One"/>
              </a:rPr>
              <a:t>②</a:t>
            </a:r>
          </a:p>
        </p:txBody>
      </p:sp>
      <p:sp>
        <p:nvSpPr>
          <p:cNvPr id="12" name="TextBox 11"/>
          <p:cNvSpPr txBox="1"/>
          <p:nvPr/>
        </p:nvSpPr>
        <p:spPr>
          <a:xfrm>
            <a:off x="2468880" y="4224527"/>
            <a:ext cx="9144000" cy="457200"/>
          </a:xfrm>
          <a:prstGeom prst="rect">
            <a:avLst/>
          </a:prstGeom>
          <a:noFill/>
        </p:spPr>
        <p:txBody>
          <a:bodyPr wrap="square" anchor="t" lIns="0" rIns="0" tIns="0" bIns="0">
            <a:spAutoFit/>
          </a:bodyPr>
          <a:lstStyle/>
          <a:p>
            <a:pPr algn="l">
              <a:lnSpc>
                <a:spcPct val="145000"/>
              </a:lnSpc>
              <a:spcAft>
                <a:spcPts val="600"/>
              </a:spcAft>
            </a:pPr>
            <a:r>
              <a:rPr sz="1600" b="1">
                <a:solidFill>
                  <a:srgbClr val="4E5F57"/>
                </a:solidFill>
                <a:latin typeface="Zen Kaku Gothic New"/>
                <a:ea typeface="Zen Kaku Gothic New"/>
                <a:cs typeface="Zen Kaku Gothic New"/>
              </a:rPr>
              <a:t>三麻　東三局　西家　5巡目　40000点持ち</a:t>
            </a:r>
          </a:p>
        </p:txBody>
      </p:sp>
      <p:sp>
        <p:nvSpPr>
          <p:cNvPr id="13" name="TextBox 12"/>
          <p:cNvSpPr txBox="1"/>
          <p:nvPr/>
        </p:nvSpPr>
        <p:spPr>
          <a:xfrm>
            <a:off x="2468880" y="4590288"/>
            <a:ext cx="9144000" cy="548640"/>
          </a:xfrm>
          <a:prstGeom prst="rect">
            <a:avLst/>
          </a:prstGeom>
          <a:noFill/>
        </p:spPr>
        <p:txBody>
          <a:bodyPr wrap="square" anchor="t" lIns="0" rIns="0" tIns="0" bIns="0">
            <a:spAutoFit/>
          </a:bodyPr>
          <a:lstStyle/>
          <a:p>
            <a:pPr algn="l">
              <a:lnSpc>
                <a:spcPct val="145000"/>
              </a:lnSpc>
              <a:spcAft>
                <a:spcPts val="600"/>
              </a:spcAft>
            </a:pPr>
            <a:r>
              <a:rPr sz="2200" b="1">
                <a:solidFill>
                  <a:srgbClr val="1B2A24"/>
                </a:solidFill>
                <a:latin typeface="Zen Kaku Gothic New"/>
                <a:ea typeface="Zen Kaku Gothic New"/>
                <a:cs typeface="Zen Kaku Gothic New"/>
              </a:rPr>
              <a:t>東家から 7索</a:t>
            </a:r>
          </a:p>
        </p:txBody>
      </p:sp>
      <p:sp>
        <p:nvSpPr>
          <p:cNvPr id="14" name="Rectangle 13"/>
          <p:cNvSpPr/>
          <p:nvPr/>
        </p:nvSpPr>
        <p:spPr>
          <a:xfrm>
            <a:off x="2468879" y="5084064"/>
            <a:ext cx="5632704" cy="1282519"/>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2.png"/>
          <p:cNvPicPr>
            <a:picLocks noChangeAspect="1"/>
          </p:cNvPicPr>
          <p:nvPr/>
        </p:nvPicPr>
        <p:blipFill>
          <a:blip r:embed="rId3"/>
          <a:stretch>
            <a:fillRect/>
          </a:stretch>
        </p:blipFill>
        <p:spPr>
          <a:xfrm>
            <a:off x="2633472" y="5212079"/>
            <a:ext cx="5303520" cy="1026487"/>
          </a:xfrm>
          <a:prstGeom prst="rect">
            <a:avLst/>
          </a:prstGeom>
        </p:spPr>
      </p:pic>
      <p:sp>
        <p:nvSpPr>
          <p:cNvPr id="16" name="TextBox 15"/>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　</a:t>
            </a:r>
            <a:r>
              <a:rPr sz="1100" b="1">
                <a:solidFill>
                  <a:srgbClr val="4E5F57"/>
                </a:solidFill>
                <a:latin typeface="Zen Kaku Gothic New"/>
                <a:ea typeface="Zen Kaku Gothic New"/>
                <a:cs typeface="Zen Kaku Gothic New"/>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7772400" cy="100584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おまけ　</a:t>
            </a:r>
            <a:r>
              <a:rPr sz="4400" b="0">
                <a:solidFill>
                  <a:srgbClr val="1B2A24"/>
                </a:solidFill>
                <a:latin typeface="Dela Gothic One"/>
                <a:ea typeface="Dela Gothic One"/>
                <a:cs typeface="Dela Gothic One"/>
              </a:rPr>
              <a:t>ポンする？しない？</a:t>
            </a:r>
          </a:p>
        </p:txBody>
      </p:sp>
      <p:sp>
        <p:nvSpPr>
          <p:cNvPr id="3" name="Rectangle 2"/>
          <p:cNvSpPr/>
          <p:nvPr/>
        </p:nvSpPr>
        <p:spPr>
          <a:xfrm>
            <a:off x="9418320" y="566928"/>
            <a:ext cx="2011680" cy="77724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566928"/>
            <a:ext cx="2011680" cy="777240"/>
          </a:xfrm>
          <a:prstGeom prst="rect">
            <a:avLst/>
          </a:prstGeom>
          <a:noFill/>
        </p:spPr>
        <p:txBody>
          <a:bodyPr wrap="square" anchor="ctr" lIns="0" rIns="0" tIns="0" bIns="0">
            <a:spAutoFit/>
          </a:bodyPr>
          <a:lstStyle/>
          <a:p>
            <a:pPr algn="ctr">
              <a:lnSpc>
                <a:spcPct val="100000"/>
              </a:lnSpc>
              <a:spcAft>
                <a:spcPts val="0"/>
              </a:spcAft>
            </a:pPr>
            <a:r>
              <a:rPr sz="1400" b="1">
                <a:solidFill>
                  <a:srgbClr val="FFFFFF"/>
                </a:solidFill>
                <a:latin typeface="Zen Kaku Gothic New"/>
                <a:ea typeface="Zen Kaku Gothic New"/>
                <a:cs typeface="Zen Kaku Gothic New"/>
              </a:rPr>
              <a:t>1問</a:t>
            </a:r>
            <a:r>
              <a:rPr sz="2600" b="0">
                <a:solidFill>
                  <a:srgbClr val="FFFFFF"/>
                </a:solidFill>
                <a:latin typeface="Dela Gothic One"/>
                <a:ea typeface="Dela Gothic One"/>
                <a:cs typeface="Dela Gothic One"/>
              </a:rPr>
              <a:t>30秒</a:t>
            </a:r>
          </a:p>
        </p:txBody>
      </p:sp>
      <p:sp>
        <p:nvSpPr>
          <p:cNvPr id="5" name="TextBox 4"/>
          <p:cNvSpPr txBox="1"/>
          <p:nvPr/>
        </p:nvSpPr>
        <p:spPr>
          <a:xfrm>
            <a:off x="822960" y="1371600"/>
            <a:ext cx="8229600" cy="365760"/>
          </a:xfrm>
          <a:prstGeom prst="rect">
            <a:avLst/>
          </a:prstGeom>
          <a:noFill/>
        </p:spPr>
        <p:txBody>
          <a:bodyPr wrap="square" anchor="t" lIns="0" rIns="0" tIns="0" bIns="0">
            <a:spAutoFit/>
          </a:bodyPr>
          <a:lstStyle/>
          <a:p>
            <a:pPr algn="l">
              <a:lnSpc>
                <a:spcPct val="145000"/>
              </a:lnSpc>
              <a:spcAft>
                <a:spcPts val="600"/>
              </a:spcAft>
            </a:pPr>
            <a:r>
              <a:rPr sz="1400" b="0">
                <a:solidFill>
                  <a:srgbClr val="4E5F57"/>
                </a:solidFill>
                <a:latin typeface="Zen Kaku Gothic New"/>
                <a:ea typeface="Zen Kaku Gothic New"/>
                <a:cs typeface="Zen Kaku Gothic New"/>
              </a:rPr>
              <a:t>③-1 と ③-2 は手牌の違いに注目</a:t>
            </a:r>
          </a:p>
        </p:txBody>
      </p:sp>
      <p:sp>
        <p:nvSpPr>
          <p:cNvPr id="6" name="TextBox 5"/>
          <p:cNvSpPr txBox="1"/>
          <p:nvPr/>
        </p:nvSpPr>
        <p:spPr>
          <a:xfrm>
            <a:off x="822960" y="1828800"/>
            <a:ext cx="1737360" cy="914400"/>
          </a:xfrm>
          <a:prstGeom prst="rect">
            <a:avLst/>
          </a:prstGeom>
          <a:noFill/>
        </p:spPr>
        <p:txBody>
          <a:bodyPr wrap="square" anchor="t" lIns="0" rIns="0" tIns="0" bIns="0">
            <a:spAutoFit/>
          </a:bodyPr>
          <a:lstStyle/>
          <a:p>
            <a:pPr algn="l">
              <a:lnSpc>
                <a:spcPct val="100000"/>
              </a:lnSpc>
              <a:spcAft>
                <a:spcPts val="600"/>
              </a:spcAft>
            </a:pPr>
            <a:r>
              <a:rPr sz="3600" b="0">
                <a:solidFill>
                  <a:srgbClr val="C23B1E"/>
                </a:solidFill>
                <a:latin typeface="Dela Gothic One"/>
                <a:ea typeface="Dela Gothic One"/>
                <a:cs typeface="Dela Gothic One"/>
              </a:rPr>
              <a:t>③-1</a:t>
            </a:r>
          </a:p>
        </p:txBody>
      </p:sp>
      <p:sp>
        <p:nvSpPr>
          <p:cNvPr id="7" name="TextBox 6"/>
          <p:cNvSpPr txBox="1"/>
          <p:nvPr/>
        </p:nvSpPr>
        <p:spPr>
          <a:xfrm>
            <a:off x="2468880" y="1847088"/>
            <a:ext cx="9144000" cy="457200"/>
          </a:xfrm>
          <a:prstGeom prst="rect">
            <a:avLst/>
          </a:prstGeom>
          <a:noFill/>
        </p:spPr>
        <p:txBody>
          <a:bodyPr wrap="square" anchor="t" lIns="0" rIns="0" tIns="0" bIns="0">
            <a:spAutoFit/>
          </a:bodyPr>
          <a:lstStyle/>
          <a:p>
            <a:pPr algn="l">
              <a:lnSpc>
                <a:spcPct val="145000"/>
              </a:lnSpc>
              <a:spcAft>
                <a:spcPts val="600"/>
              </a:spcAft>
            </a:pPr>
            <a:r>
              <a:rPr sz="1600" b="1">
                <a:solidFill>
                  <a:srgbClr val="4E5F57"/>
                </a:solidFill>
                <a:latin typeface="Zen Kaku Gothic New"/>
                <a:ea typeface="Zen Kaku Gothic New"/>
                <a:cs typeface="Zen Kaku Gothic New"/>
              </a:rPr>
              <a:t>三麻　東三局　南家　5巡目　50000点持ち</a:t>
            </a:r>
          </a:p>
        </p:txBody>
      </p:sp>
      <p:sp>
        <p:nvSpPr>
          <p:cNvPr id="8" name="TextBox 7"/>
          <p:cNvSpPr txBox="1"/>
          <p:nvPr/>
        </p:nvSpPr>
        <p:spPr>
          <a:xfrm>
            <a:off x="2468880" y="2212848"/>
            <a:ext cx="9144000" cy="548640"/>
          </a:xfrm>
          <a:prstGeom prst="rect">
            <a:avLst/>
          </a:prstGeom>
          <a:noFill/>
        </p:spPr>
        <p:txBody>
          <a:bodyPr wrap="square" anchor="t" lIns="0" rIns="0" tIns="0" bIns="0">
            <a:spAutoFit/>
          </a:bodyPr>
          <a:lstStyle/>
          <a:p>
            <a:pPr algn="l">
              <a:lnSpc>
                <a:spcPct val="145000"/>
              </a:lnSpc>
              <a:spcAft>
                <a:spcPts val="600"/>
              </a:spcAft>
            </a:pPr>
            <a:r>
              <a:rPr sz="2200" b="1">
                <a:solidFill>
                  <a:srgbClr val="1B2A24"/>
                </a:solidFill>
                <a:latin typeface="Zen Kaku Gothic New"/>
                <a:ea typeface="Zen Kaku Gothic New"/>
                <a:cs typeface="Zen Kaku Gothic New"/>
              </a:rPr>
              <a:t>東家から 東（1枚目）</a:t>
            </a:r>
          </a:p>
        </p:txBody>
      </p:sp>
      <p:sp>
        <p:nvSpPr>
          <p:cNvPr id="9" name="Rectangle 8"/>
          <p:cNvSpPr/>
          <p:nvPr/>
        </p:nvSpPr>
        <p:spPr>
          <a:xfrm>
            <a:off x="2468879" y="2706624"/>
            <a:ext cx="5632704" cy="1282519"/>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png"/>
          <p:cNvPicPr>
            <a:picLocks noChangeAspect="1"/>
          </p:cNvPicPr>
          <p:nvPr/>
        </p:nvPicPr>
        <p:blipFill>
          <a:blip r:embed="rId2"/>
          <a:stretch>
            <a:fillRect/>
          </a:stretch>
        </p:blipFill>
        <p:spPr>
          <a:xfrm>
            <a:off x="2633472" y="2834640"/>
            <a:ext cx="5303520" cy="1026487"/>
          </a:xfrm>
          <a:prstGeom prst="rect">
            <a:avLst/>
          </a:prstGeom>
        </p:spPr>
      </p:pic>
      <p:sp>
        <p:nvSpPr>
          <p:cNvPr id="11" name="TextBox 10"/>
          <p:cNvSpPr txBox="1"/>
          <p:nvPr/>
        </p:nvSpPr>
        <p:spPr>
          <a:xfrm>
            <a:off x="822960" y="4206240"/>
            <a:ext cx="1737360" cy="914400"/>
          </a:xfrm>
          <a:prstGeom prst="rect">
            <a:avLst/>
          </a:prstGeom>
          <a:noFill/>
        </p:spPr>
        <p:txBody>
          <a:bodyPr wrap="square" anchor="t" lIns="0" rIns="0" tIns="0" bIns="0">
            <a:spAutoFit/>
          </a:bodyPr>
          <a:lstStyle/>
          <a:p>
            <a:pPr algn="l">
              <a:lnSpc>
                <a:spcPct val="100000"/>
              </a:lnSpc>
              <a:spcAft>
                <a:spcPts val="600"/>
              </a:spcAft>
            </a:pPr>
            <a:r>
              <a:rPr sz="3600" b="0">
                <a:solidFill>
                  <a:srgbClr val="C23B1E"/>
                </a:solidFill>
                <a:latin typeface="Dela Gothic One"/>
                <a:ea typeface="Dela Gothic One"/>
                <a:cs typeface="Dela Gothic One"/>
              </a:rPr>
              <a:t>③-2</a:t>
            </a:r>
          </a:p>
        </p:txBody>
      </p:sp>
      <p:sp>
        <p:nvSpPr>
          <p:cNvPr id="12" name="TextBox 11"/>
          <p:cNvSpPr txBox="1"/>
          <p:nvPr/>
        </p:nvSpPr>
        <p:spPr>
          <a:xfrm>
            <a:off x="2468880" y="4224527"/>
            <a:ext cx="9144000" cy="457200"/>
          </a:xfrm>
          <a:prstGeom prst="rect">
            <a:avLst/>
          </a:prstGeom>
          <a:noFill/>
        </p:spPr>
        <p:txBody>
          <a:bodyPr wrap="square" anchor="t" lIns="0" rIns="0" tIns="0" bIns="0">
            <a:spAutoFit/>
          </a:bodyPr>
          <a:lstStyle/>
          <a:p>
            <a:pPr algn="l">
              <a:lnSpc>
                <a:spcPct val="145000"/>
              </a:lnSpc>
              <a:spcAft>
                <a:spcPts val="600"/>
              </a:spcAft>
            </a:pPr>
            <a:r>
              <a:rPr sz="1600" b="1">
                <a:solidFill>
                  <a:srgbClr val="4E5F57"/>
                </a:solidFill>
                <a:latin typeface="Zen Kaku Gothic New"/>
                <a:ea typeface="Zen Kaku Gothic New"/>
                <a:cs typeface="Zen Kaku Gothic New"/>
              </a:rPr>
              <a:t>三麻　東三局　南家　5巡目　50000点持ち</a:t>
            </a:r>
          </a:p>
        </p:txBody>
      </p:sp>
      <p:sp>
        <p:nvSpPr>
          <p:cNvPr id="13" name="TextBox 12"/>
          <p:cNvSpPr txBox="1"/>
          <p:nvPr/>
        </p:nvSpPr>
        <p:spPr>
          <a:xfrm>
            <a:off x="2468880" y="4590288"/>
            <a:ext cx="9144000" cy="548640"/>
          </a:xfrm>
          <a:prstGeom prst="rect">
            <a:avLst/>
          </a:prstGeom>
          <a:noFill/>
        </p:spPr>
        <p:txBody>
          <a:bodyPr wrap="square" anchor="t" lIns="0" rIns="0" tIns="0" bIns="0">
            <a:spAutoFit/>
          </a:bodyPr>
          <a:lstStyle/>
          <a:p>
            <a:pPr algn="l">
              <a:lnSpc>
                <a:spcPct val="145000"/>
              </a:lnSpc>
              <a:spcAft>
                <a:spcPts val="600"/>
              </a:spcAft>
            </a:pPr>
            <a:r>
              <a:rPr sz="2200" b="1">
                <a:solidFill>
                  <a:srgbClr val="1B2A24"/>
                </a:solidFill>
                <a:latin typeface="Zen Kaku Gothic New"/>
                <a:ea typeface="Zen Kaku Gothic New"/>
                <a:cs typeface="Zen Kaku Gothic New"/>
              </a:rPr>
              <a:t>東家から 東（1枚目）</a:t>
            </a:r>
          </a:p>
        </p:txBody>
      </p:sp>
      <p:sp>
        <p:nvSpPr>
          <p:cNvPr id="14" name="Rectangle 13"/>
          <p:cNvSpPr/>
          <p:nvPr/>
        </p:nvSpPr>
        <p:spPr>
          <a:xfrm>
            <a:off x="2468879" y="5084064"/>
            <a:ext cx="5632704" cy="1282519"/>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4.png"/>
          <p:cNvPicPr>
            <a:picLocks noChangeAspect="1"/>
          </p:cNvPicPr>
          <p:nvPr/>
        </p:nvPicPr>
        <p:blipFill>
          <a:blip r:embed="rId3"/>
          <a:stretch>
            <a:fillRect/>
          </a:stretch>
        </p:blipFill>
        <p:spPr>
          <a:xfrm>
            <a:off x="2633472" y="5212079"/>
            <a:ext cx="5303520" cy="1026487"/>
          </a:xfrm>
          <a:prstGeom prst="rect">
            <a:avLst/>
          </a:prstGeom>
        </p:spPr>
      </p:pic>
      <p:sp>
        <p:nvSpPr>
          <p:cNvPr id="16" name="TextBox 15"/>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　</a:t>
            </a:r>
            <a:r>
              <a:rPr sz="1100" b="1">
                <a:solidFill>
                  <a:srgbClr val="4E5F57"/>
                </a:solidFill>
                <a:latin typeface="Zen Kaku Gothic New"/>
                <a:ea typeface="Zen Kaku Gothic New"/>
                <a:cs typeface="Zen Kaku Gothic New"/>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4572000" cy="82296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解答　</a:t>
            </a:r>
            <a:r>
              <a:rPr sz="4000" b="0">
                <a:solidFill>
                  <a:srgbClr val="C23B1E"/>
                </a:solidFill>
                <a:latin typeface="Dela Gothic One"/>
                <a:ea typeface="Dela Gothic One"/>
                <a:cs typeface="Dela Gothic One"/>
              </a:rPr>
              <a:t>①</a:t>
            </a:r>
          </a:p>
        </p:txBody>
      </p:sp>
      <p:sp>
        <p:nvSpPr>
          <p:cNvPr id="3" name="TextBox 2"/>
          <p:cNvSpPr txBox="1"/>
          <p:nvPr/>
        </p:nvSpPr>
        <p:spPr>
          <a:xfrm>
            <a:off x="822960" y="1234440"/>
            <a:ext cx="6858000" cy="365760"/>
          </a:xfrm>
          <a:prstGeom prst="rect">
            <a:avLst/>
          </a:prstGeom>
          <a:noFill/>
        </p:spPr>
        <p:txBody>
          <a:bodyPr wrap="square" anchor="t" lIns="0" rIns="0" tIns="0" bIns="0">
            <a:spAutoFit/>
          </a:bodyPr>
          <a:lstStyle/>
          <a:p>
            <a:pPr algn="l">
              <a:lnSpc>
                <a:spcPct val="145000"/>
              </a:lnSpc>
              <a:spcAft>
                <a:spcPts val="600"/>
              </a:spcAft>
            </a:pPr>
            <a:r>
              <a:rPr sz="1400" b="1">
                <a:solidFill>
                  <a:srgbClr val="4E5F57"/>
                </a:solidFill>
                <a:latin typeface="Zen Kaku Gothic New"/>
                <a:ea typeface="Zen Kaku Gothic New"/>
                <a:cs typeface="Zen Kaku Gothic New"/>
              </a:rPr>
              <a:t>三麻　東一局　西家　3巡目　35000点持ち　東家から東（2枚目）</a:t>
            </a:r>
          </a:p>
        </p:txBody>
      </p:sp>
      <p:sp>
        <p:nvSpPr>
          <p:cNvPr id="4" name="Rectangle 3"/>
          <p:cNvSpPr/>
          <p:nvPr/>
        </p:nvSpPr>
        <p:spPr>
          <a:xfrm>
            <a:off x="822960" y="1655064"/>
            <a:ext cx="5724144" cy="1300217"/>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3.png"/>
          <p:cNvPicPr>
            <a:picLocks noChangeAspect="1"/>
          </p:cNvPicPr>
          <p:nvPr/>
        </p:nvPicPr>
        <p:blipFill>
          <a:blip r:embed="rId2"/>
          <a:stretch>
            <a:fillRect/>
          </a:stretch>
        </p:blipFill>
        <p:spPr>
          <a:xfrm>
            <a:off x="987552" y="1783080"/>
            <a:ext cx="5394960" cy="1044185"/>
          </a:xfrm>
          <a:prstGeom prst="rect">
            <a:avLst/>
          </a:prstGeom>
        </p:spPr>
      </p:pic>
      <p:sp>
        <p:nvSpPr>
          <p:cNvPr id="6" name="Rectangle 5"/>
          <p:cNvSpPr/>
          <p:nvPr/>
        </p:nvSpPr>
        <p:spPr>
          <a:xfrm>
            <a:off x="6995160" y="1783080"/>
            <a:ext cx="3035808" cy="658368"/>
          </a:xfrm>
          <a:prstGeom prst="rect">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83080"/>
            <a:ext cx="3035808" cy="658368"/>
          </a:xfrm>
          <a:prstGeom prst="rect">
            <a:avLst/>
          </a:prstGeom>
          <a:noFill/>
        </p:spPr>
        <p:txBody>
          <a:bodyPr wrap="square" anchor="ctr" lIns="0" rIns="0" tIns="0" bIns="0">
            <a:spAutoFit/>
          </a:bodyPr>
          <a:lstStyle/>
          <a:p>
            <a:pPr algn="ctr">
              <a:lnSpc>
                <a:spcPct val="100000"/>
              </a:lnSpc>
              <a:spcAft>
                <a:spcPts val="0"/>
              </a:spcAft>
            </a:pPr>
            <a:r>
              <a:rPr sz="2800" b="0">
                <a:solidFill>
                  <a:srgbClr val="F5F1E6"/>
                </a:solidFill>
                <a:latin typeface="Dela Gothic One"/>
                <a:ea typeface="Dela Gothic One"/>
                <a:cs typeface="Dela Gothic One"/>
              </a:rPr>
              <a:t>鉄板でしない</a:t>
            </a:r>
          </a:p>
        </p:txBody>
      </p:sp>
      <p:sp>
        <p:nvSpPr>
          <p:cNvPr id="8" name="TextBox 7"/>
          <p:cNvSpPr txBox="1"/>
          <p:nvPr/>
        </p:nvSpPr>
        <p:spPr>
          <a:xfrm>
            <a:off x="6995160" y="2606040"/>
            <a:ext cx="4480560" cy="82296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親だったら3翻の手で受け入れ枚数が増えるからする。これでポンすると答えた人は麻雀のセンス０（俺の主観だけどね）</a:t>
            </a:r>
          </a:p>
        </p:txBody>
      </p:sp>
      <p:sp>
        <p:nvSpPr>
          <p:cNvPr id="9" name="TextBox 8"/>
          <p:cNvSpPr txBox="1"/>
          <p:nvPr/>
        </p:nvSpPr>
        <p:spPr>
          <a:xfrm>
            <a:off x="822960" y="3246120"/>
            <a:ext cx="6035040" cy="3108960"/>
          </a:xfrm>
          <a:prstGeom prst="rect">
            <a:avLst/>
          </a:prstGeom>
          <a:noFill/>
        </p:spPr>
        <p:txBody>
          <a:bodyPr wrap="square" anchor="t" lIns="0" rIns="0" tIns="0" bIns="0">
            <a:spAutoFit/>
          </a:bodyPr>
          <a:lstStyle/>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2枚目といえどカンチャンが2つ残っている、2翻の二向聴。鳴いた後も雀頭候補が無く、他家のリーチに押し返しづらい牌姿のため、安全牌候補の一萬九萬を残しつつ、面前聴牌のリーチ自摸ドラ1を目指す。</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ピンズも④で三面張、⑤⑧でもリャンカンが残る。索子もまだ横に伸びていける形。</a:t>
            </a:r>
          </a:p>
        </p:txBody>
      </p:sp>
      <p:sp>
        <p:nvSpPr>
          <p:cNvPr id="10" name="Rectangle 9"/>
          <p:cNvSpPr/>
          <p:nvPr/>
        </p:nvSpPr>
        <p:spPr>
          <a:xfrm>
            <a:off x="6995160" y="3657600"/>
            <a:ext cx="4434840" cy="251460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3657600"/>
            <a:ext cx="73152" cy="251460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794760"/>
            <a:ext cx="3931920" cy="2240280"/>
          </a:xfrm>
          <a:prstGeom prst="rect">
            <a:avLst/>
          </a:prstGeom>
          <a:noFill/>
        </p:spPr>
        <p:txBody>
          <a:bodyPr wrap="square" anchor="ctr" lIns="0" rIns="0" tIns="0" bIns="0">
            <a:spAutoFit/>
          </a:bodyPr>
          <a:lstStyle/>
          <a:p>
            <a:pPr algn="l">
              <a:lnSpc>
                <a:spcPct val="155000"/>
              </a:lnSpc>
              <a:spcAft>
                <a:spcPts val="600"/>
              </a:spcAft>
            </a:pPr>
            <a:r>
              <a:rPr sz="1700" b="1">
                <a:solidFill>
                  <a:srgbClr val="1B2A24"/>
                </a:solidFill>
                <a:latin typeface="Zen Kaku Gothic New"/>
                <a:ea typeface="Zen Kaku Gothic New"/>
                <a:cs typeface="Zen Kaku Gothic New"/>
              </a:rPr>
              <a:t>現状二向聴、鳴いても二向聴。打点が上がらず待ちも良くならない最悪の鳴きであることを理解できないとやばいからね？</a:t>
            </a:r>
          </a:p>
        </p:txBody>
      </p:sp>
      <p:sp>
        <p:nvSpPr>
          <p:cNvPr id="13" name="TextBox 12"/>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おまけ・解答　</a:t>
            </a:r>
            <a:r>
              <a:rPr sz="1100" b="1">
                <a:solidFill>
                  <a:srgbClr val="4E5F57"/>
                </a:solidFill>
                <a:latin typeface="Zen Kaku Gothic New"/>
                <a:ea typeface="Zen Kaku Gothic New"/>
                <a:cs typeface="Zen Kaku Gothic New"/>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4572000" cy="82296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解答　</a:t>
            </a:r>
            <a:r>
              <a:rPr sz="4000" b="0">
                <a:solidFill>
                  <a:srgbClr val="C23B1E"/>
                </a:solidFill>
                <a:latin typeface="Dela Gothic One"/>
                <a:ea typeface="Dela Gothic One"/>
                <a:cs typeface="Dela Gothic One"/>
              </a:rPr>
              <a:t>②</a:t>
            </a:r>
          </a:p>
        </p:txBody>
      </p:sp>
      <p:sp>
        <p:nvSpPr>
          <p:cNvPr id="3" name="TextBox 2"/>
          <p:cNvSpPr txBox="1"/>
          <p:nvPr/>
        </p:nvSpPr>
        <p:spPr>
          <a:xfrm>
            <a:off x="822960" y="1234440"/>
            <a:ext cx="6858000" cy="365760"/>
          </a:xfrm>
          <a:prstGeom prst="rect">
            <a:avLst/>
          </a:prstGeom>
          <a:noFill/>
        </p:spPr>
        <p:txBody>
          <a:bodyPr wrap="square" anchor="t" lIns="0" rIns="0" tIns="0" bIns="0">
            <a:spAutoFit/>
          </a:bodyPr>
          <a:lstStyle/>
          <a:p>
            <a:pPr algn="l">
              <a:lnSpc>
                <a:spcPct val="145000"/>
              </a:lnSpc>
              <a:spcAft>
                <a:spcPts val="600"/>
              </a:spcAft>
            </a:pPr>
            <a:r>
              <a:rPr sz="1400" b="1">
                <a:solidFill>
                  <a:srgbClr val="4E5F57"/>
                </a:solidFill>
                <a:latin typeface="Zen Kaku Gothic New"/>
                <a:ea typeface="Zen Kaku Gothic New"/>
                <a:cs typeface="Zen Kaku Gothic New"/>
              </a:rPr>
              <a:t>三麻　東三局　西家　5巡目　40000点持ち　東家から7索</a:t>
            </a:r>
          </a:p>
        </p:txBody>
      </p:sp>
      <p:sp>
        <p:nvSpPr>
          <p:cNvPr id="4" name="Rectangle 3"/>
          <p:cNvSpPr/>
          <p:nvPr/>
        </p:nvSpPr>
        <p:spPr>
          <a:xfrm>
            <a:off x="822960" y="1655064"/>
            <a:ext cx="5724144" cy="1300217"/>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2.png"/>
          <p:cNvPicPr>
            <a:picLocks noChangeAspect="1"/>
          </p:cNvPicPr>
          <p:nvPr/>
        </p:nvPicPr>
        <p:blipFill>
          <a:blip r:embed="rId2"/>
          <a:stretch>
            <a:fillRect/>
          </a:stretch>
        </p:blipFill>
        <p:spPr>
          <a:xfrm>
            <a:off x="987552" y="1783080"/>
            <a:ext cx="5394960" cy="1044185"/>
          </a:xfrm>
          <a:prstGeom prst="rect">
            <a:avLst/>
          </a:prstGeom>
        </p:spPr>
      </p:pic>
      <p:sp>
        <p:nvSpPr>
          <p:cNvPr id="6" name="Rectangle 5"/>
          <p:cNvSpPr/>
          <p:nvPr/>
        </p:nvSpPr>
        <p:spPr>
          <a:xfrm>
            <a:off x="6995160" y="1783080"/>
            <a:ext cx="3035808" cy="658368"/>
          </a:xfrm>
          <a:prstGeom prst="rect">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83080"/>
            <a:ext cx="3035808" cy="658368"/>
          </a:xfrm>
          <a:prstGeom prst="rect">
            <a:avLst/>
          </a:prstGeom>
          <a:noFill/>
        </p:spPr>
        <p:txBody>
          <a:bodyPr wrap="square" anchor="ctr" lIns="0" rIns="0" tIns="0" bIns="0">
            <a:spAutoFit/>
          </a:bodyPr>
          <a:lstStyle/>
          <a:p>
            <a:pPr algn="ctr">
              <a:lnSpc>
                <a:spcPct val="100000"/>
              </a:lnSpc>
              <a:spcAft>
                <a:spcPts val="0"/>
              </a:spcAft>
            </a:pPr>
            <a:r>
              <a:rPr sz="2800" b="0">
                <a:solidFill>
                  <a:srgbClr val="F5F1E6"/>
                </a:solidFill>
                <a:latin typeface="Dela Gothic One"/>
                <a:ea typeface="Dela Gothic One"/>
                <a:cs typeface="Dela Gothic One"/>
              </a:rPr>
              <a:t>絶対にしない</a:t>
            </a:r>
          </a:p>
        </p:txBody>
      </p:sp>
      <p:sp>
        <p:nvSpPr>
          <p:cNvPr id="8" name="TextBox 7"/>
          <p:cNvSpPr txBox="1"/>
          <p:nvPr/>
        </p:nvSpPr>
        <p:spPr>
          <a:xfrm>
            <a:off x="6995160" y="2606040"/>
            <a:ext cx="4480560" cy="82296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俺は絶対にしない（オーラスアガリトップならする）</a:t>
            </a:r>
          </a:p>
        </p:txBody>
      </p:sp>
      <p:sp>
        <p:nvSpPr>
          <p:cNvPr id="9" name="TextBox 8"/>
          <p:cNvSpPr txBox="1"/>
          <p:nvPr/>
        </p:nvSpPr>
        <p:spPr>
          <a:xfrm>
            <a:off x="822960" y="3246120"/>
            <a:ext cx="6035040" cy="3108960"/>
          </a:xfrm>
          <a:prstGeom prst="rect">
            <a:avLst/>
          </a:prstGeom>
          <a:noFill/>
        </p:spPr>
        <p:txBody>
          <a:bodyPr wrap="square" anchor="t" lIns="0" rIns="0" tIns="0" bIns="0">
            <a:spAutoFit/>
          </a:bodyPr>
          <a:lstStyle/>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鳴いて4000点の聴牌は安全にとれるが、カンチャンが残り、手牌が中張牌だけになるため他家のリーチに押し返しづらい。</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索子は四連形で横に伸びやすく、ピンズは①③④引くと両面、⑥はダイレクト聴牌（ダマで変化待ち）、ドラ⑨を引いて②⑤⑧のくっつき聴牌などへの良形変化が多くあるため、面前で進める。</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ピンズの一通など打点も見込め、打点があれば他家のリーチに押し返しやすい。最悪7索が親の現物になる。</a:t>
            </a:r>
          </a:p>
        </p:txBody>
      </p:sp>
      <p:sp>
        <p:nvSpPr>
          <p:cNvPr id="10" name="Rectangle 9"/>
          <p:cNvSpPr/>
          <p:nvPr/>
        </p:nvSpPr>
        <p:spPr>
          <a:xfrm>
            <a:off x="6995160" y="3657600"/>
            <a:ext cx="4434840" cy="251460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3657600"/>
            <a:ext cx="73152" cy="251460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794760"/>
            <a:ext cx="3931920" cy="2240280"/>
          </a:xfrm>
          <a:prstGeom prst="rect">
            <a:avLst/>
          </a:prstGeom>
          <a:noFill/>
        </p:spPr>
        <p:txBody>
          <a:bodyPr wrap="square" anchor="ctr" lIns="0" rIns="0" tIns="0" bIns="0">
            <a:spAutoFit/>
          </a:bodyPr>
          <a:lstStyle/>
          <a:p>
            <a:pPr algn="l">
              <a:lnSpc>
                <a:spcPct val="155000"/>
              </a:lnSpc>
              <a:spcAft>
                <a:spcPts val="600"/>
              </a:spcAft>
            </a:pPr>
            <a:r>
              <a:rPr sz="1700" b="1">
                <a:solidFill>
                  <a:srgbClr val="1B2A24"/>
                </a:solidFill>
                <a:latin typeface="Zen Kaku Gothic New"/>
                <a:ea typeface="Zen Kaku Gothic New"/>
                <a:cs typeface="Zen Kaku Gothic New"/>
              </a:rPr>
              <a:t>今は、鳴いて打点を下げて愚形待ちにしないように。</a:t>
            </a:r>
          </a:p>
        </p:txBody>
      </p:sp>
      <p:sp>
        <p:nvSpPr>
          <p:cNvPr id="13" name="TextBox 12"/>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おまけ・解答　</a:t>
            </a:r>
            <a:r>
              <a:rPr sz="1100" b="1">
                <a:solidFill>
                  <a:srgbClr val="4E5F57"/>
                </a:solidFill>
                <a:latin typeface="Zen Kaku Gothic New"/>
                <a:ea typeface="Zen Kaku Gothic New"/>
                <a:cs typeface="Zen Kaku Gothic New"/>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4572000" cy="82296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解答　</a:t>
            </a:r>
            <a:r>
              <a:rPr sz="4000" b="0">
                <a:solidFill>
                  <a:srgbClr val="C23B1E"/>
                </a:solidFill>
                <a:latin typeface="Dela Gothic One"/>
                <a:ea typeface="Dela Gothic One"/>
                <a:cs typeface="Dela Gothic One"/>
              </a:rPr>
              <a:t>③-1</a:t>
            </a:r>
          </a:p>
        </p:txBody>
      </p:sp>
      <p:sp>
        <p:nvSpPr>
          <p:cNvPr id="3" name="TextBox 2"/>
          <p:cNvSpPr txBox="1"/>
          <p:nvPr/>
        </p:nvSpPr>
        <p:spPr>
          <a:xfrm>
            <a:off x="822960" y="1234440"/>
            <a:ext cx="6858000" cy="365760"/>
          </a:xfrm>
          <a:prstGeom prst="rect">
            <a:avLst/>
          </a:prstGeom>
          <a:noFill/>
        </p:spPr>
        <p:txBody>
          <a:bodyPr wrap="square" anchor="t" lIns="0" rIns="0" tIns="0" bIns="0">
            <a:spAutoFit/>
          </a:bodyPr>
          <a:lstStyle/>
          <a:p>
            <a:pPr algn="l">
              <a:lnSpc>
                <a:spcPct val="145000"/>
              </a:lnSpc>
              <a:spcAft>
                <a:spcPts val="600"/>
              </a:spcAft>
            </a:pPr>
            <a:r>
              <a:rPr sz="1400" b="1">
                <a:solidFill>
                  <a:srgbClr val="4E5F57"/>
                </a:solidFill>
                <a:latin typeface="Zen Kaku Gothic New"/>
                <a:ea typeface="Zen Kaku Gothic New"/>
                <a:cs typeface="Zen Kaku Gothic New"/>
              </a:rPr>
              <a:t>三麻　東三局　南家　5巡目　50000点持ち　東家から東（1枚目）</a:t>
            </a:r>
          </a:p>
        </p:txBody>
      </p:sp>
      <p:sp>
        <p:nvSpPr>
          <p:cNvPr id="4" name="Rectangle 3"/>
          <p:cNvSpPr/>
          <p:nvPr/>
        </p:nvSpPr>
        <p:spPr>
          <a:xfrm>
            <a:off x="822960" y="1655064"/>
            <a:ext cx="5724144" cy="1300217"/>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png"/>
          <p:cNvPicPr>
            <a:picLocks noChangeAspect="1"/>
          </p:cNvPicPr>
          <p:nvPr/>
        </p:nvPicPr>
        <p:blipFill>
          <a:blip r:embed="rId2"/>
          <a:stretch>
            <a:fillRect/>
          </a:stretch>
        </p:blipFill>
        <p:spPr>
          <a:xfrm>
            <a:off x="987552" y="1783080"/>
            <a:ext cx="5394960" cy="1044185"/>
          </a:xfrm>
          <a:prstGeom prst="rect">
            <a:avLst/>
          </a:prstGeom>
        </p:spPr>
      </p:pic>
      <p:sp>
        <p:nvSpPr>
          <p:cNvPr id="6" name="Rectangle 5"/>
          <p:cNvSpPr/>
          <p:nvPr/>
        </p:nvSpPr>
        <p:spPr>
          <a:xfrm>
            <a:off x="6995160" y="1783080"/>
            <a:ext cx="2560320" cy="658368"/>
          </a:xfrm>
          <a:prstGeom prst="rect">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83080"/>
            <a:ext cx="2560320" cy="658368"/>
          </a:xfrm>
          <a:prstGeom prst="rect">
            <a:avLst/>
          </a:prstGeom>
          <a:noFill/>
        </p:spPr>
        <p:txBody>
          <a:bodyPr wrap="square" anchor="ctr" lIns="0" rIns="0" tIns="0" bIns="0">
            <a:spAutoFit/>
          </a:bodyPr>
          <a:lstStyle/>
          <a:p>
            <a:pPr algn="ctr">
              <a:lnSpc>
                <a:spcPct val="100000"/>
              </a:lnSpc>
              <a:spcAft>
                <a:spcPts val="0"/>
              </a:spcAft>
            </a:pPr>
            <a:r>
              <a:rPr sz="2800" b="0">
                <a:solidFill>
                  <a:srgbClr val="F5F1E6"/>
                </a:solidFill>
                <a:latin typeface="Dela Gothic One"/>
                <a:ea typeface="Dela Gothic One"/>
                <a:cs typeface="Dela Gothic One"/>
              </a:rPr>
              <a:t>しない推奨</a:t>
            </a:r>
          </a:p>
        </p:txBody>
      </p:sp>
      <p:sp>
        <p:nvSpPr>
          <p:cNvPr id="8" name="TextBox 7"/>
          <p:cNvSpPr txBox="1"/>
          <p:nvPr/>
        </p:nvSpPr>
        <p:spPr>
          <a:xfrm>
            <a:off x="6995160" y="2606040"/>
            <a:ext cx="4480560" cy="82296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微妙だが、（微妙だからこそ）しない推奨。2枚目ならポン</a:t>
            </a:r>
          </a:p>
        </p:txBody>
      </p:sp>
      <p:sp>
        <p:nvSpPr>
          <p:cNvPr id="9" name="TextBox 8"/>
          <p:cNvSpPr txBox="1"/>
          <p:nvPr/>
        </p:nvSpPr>
        <p:spPr>
          <a:xfrm>
            <a:off x="822960" y="3246120"/>
            <a:ext cx="6035040" cy="3108960"/>
          </a:xfrm>
          <a:prstGeom prst="rect">
            <a:avLst/>
          </a:prstGeom>
          <a:noFill/>
        </p:spPr>
        <p:txBody>
          <a:bodyPr wrap="square" anchor="t" lIns="0" rIns="0" tIns="0" bIns="0">
            <a:spAutoFit/>
          </a:bodyPr>
          <a:lstStyle/>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赤5索のくっつきやホンイツで跳満以上も見える手牌だが、最終的に嵌4索、嵌6索や、出づらい⑤とドラの白とのシャンポン待ちになる可能性もある。打点があるからそれでもいいけど、今は良形聴牌を目指せ。</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赤5索とホンイツの両天秤で進めると、他家のリーチが来てからのホンイツが行きづらく、ドラを切らないとなると中張牌で溢れるリスクがある。</a:t>
            </a:r>
          </a:p>
        </p:txBody>
      </p:sp>
      <p:sp>
        <p:nvSpPr>
          <p:cNvPr id="10" name="Rectangle 9"/>
          <p:cNvSpPr/>
          <p:nvPr/>
        </p:nvSpPr>
        <p:spPr>
          <a:xfrm>
            <a:off x="6995160" y="3657600"/>
            <a:ext cx="4434840" cy="251460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3657600"/>
            <a:ext cx="73152" cy="251460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794760"/>
            <a:ext cx="3931920" cy="2240280"/>
          </a:xfrm>
          <a:prstGeom prst="rect">
            <a:avLst/>
          </a:prstGeom>
          <a:noFill/>
        </p:spPr>
        <p:txBody>
          <a:bodyPr wrap="square" anchor="ctr" lIns="0" rIns="0" tIns="0" bIns="0">
            <a:spAutoFit/>
          </a:bodyPr>
          <a:lstStyle/>
          <a:p>
            <a:pPr algn="l">
              <a:lnSpc>
                <a:spcPct val="155000"/>
              </a:lnSpc>
              <a:spcAft>
                <a:spcPts val="600"/>
              </a:spcAft>
            </a:pPr>
            <a:r>
              <a:rPr sz="1700" b="1">
                <a:solidFill>
                  <a:srgbClr val="1B2A24"/>
                </a:solidFill>
                <a:latin typeface="Zen Kaku Gothic New"/>
                <a:ea typeface="Zen Kaku Gothic New"/>
                <a:cs typeface="Zen Kaku Gothic New"/>
              </a:rPr>
              <a:t>まだ4ブロックしかないターツ不足と、赤5索が確実に使えるか分からない点が判断を難しくさせている。点棒はあるため、判断が微妙な時は無理しない。</a:t>
            </a:r>
          </a:p>
        </p:txBody>
      </p:sp>
      <p:sp>
        <p:nvSpPr>
          <p:cNvPr id="13" name="TextBox 12"/>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おまけ・解答　</a:t>
            </a:r>
            <a:r>
              <a:rPr sz="1100" b="1">
                <a:solidFill>
                  <a:srgbClr val="4E5F57"/>
                </a:solidFill>
                <a:latin typeface="Zen Kaku Gothic New"/>
                <a:ea typeface="Zen Kaku Gothic New"/>
                <a:cs typeface="Zen Kaku Gothic New"/>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6"/>
        </a:solidFill>
        <a:effectLst/>
      </p:bgPr>
    </p:bg>
    <p:spTree>
      <p:nvGrpSpPr>
        <p:cNvPr id="1" name=""/>
        <p:cNvGrpSpPr/>
        <p:nvPr/>
      </p:nvGrpSpPr>
      <p:grpSpPr/>
      <p:sp>
        <p:nvSpPr>
          <p:cNvPr id="2" name="TextBox 1"/>
          <p:cNvSpPr txBox="1"/>
          <p:nvPr/>
        </p:nvSpPr>
        <p:spPr>
          <a:xfrm>
            <a:off x="822960" y="457200"/>
            <a:ext cx="4572000" cy="822960"/>
          </a:xfrm>
          <a:prstGeom prst="rect">
            <a:avLst/>
          </a:prstGeom>
          <a:noFill/>
        </p:spPr>
        <p:txBody>
          <a:bodyPr wrap="square" anchor="ctr" lIns="0" rIns="0" tIns="0" bIns="0">
            <a:spAutoFit/>
          </a:bodyPr>
          <a:lstStyle/>
          <a:p>
            <a:pPr algn="l">
              <a:lnSpc>
                <a:spcPct val="145000"/>
              </a:lnSpc>
              <a:spcAft>
                <a:spcPts val="600"/>
              </a:spcAft>
            </a:pPr>
            <a:r>
              <a:rPr sz="1800" b="1">
                <a:solidFill>
                  <a:srgbClr val="4E5F57"/>
                </a:solidFill>
                <a:latin typeface="Zen Kaku Gothic New"/>
                <a:ea typeface="Zen Kaku Gothic New"/>
                <a:cs typeface="Zen Kaku Gothic New"/>
              </a:rPr>
              <a:t>解答　</a:t>
            </a:r>
            <a:r>
              <a:rPr sz="4000" b="0">
                <a:solidFill>
                  <a:srgbClr val="C23B1E"/>
                </a:solidFill>
                <a:latin typeface="Dela Gothic One"/>
                <a:ea typeface="Dela Gothic One"/>
                <a:cs typeface="Dela Gothic One"/>
              </a:rPr>
              <a:t>③-2</a:t>
            </a:r>
          </a:p>
        </p:txBody>
      </p:sp>
      <p:sp>
        <p:nvSpPr>
          <p:cNvPr id="3" name="TextBox 2"/>
          <p:cNvSpPr txBox="1"/>
          <p:nvPr/>
        </p:nvSpPr>
        <p:spPr>
          <a:xfrm>
            <a:off x="822960" y="1234440"/>
            <a:ext cx="6858000" cy="365760"/>
          </a:xfrm>
          <a:prstGeom prst="rect">
            <a:avLst/>
          </a:prstGeom>
          <a:noFill/>
        </p:spPr>
        <p:txBody>
          <a:bodyPr wrap="square" anchor="t" lIns="0" rIns="0" tIns="0" bIns="0">
            <a:spAutoFit/>
          </a:bodyPr>
          <a:lstStyle/>
          <a:p>
            <a:pPr algn="l">
              <a:lnSpc>
                <a:spcPct val="145000"/>
              </a:lnSpc>
              <a:spcAft>
                <a:spcPts val="600"/>
              </a:spcAft>
            </a:pPr>
            <a:r>
              <a:rPr sz="1400" b="1">
                <a:solidFill>
                  <a:srgbClr val="4E5F57"/>
                </a:solidFill>
                <a:latin typeface="Zen Kaku Gothic New"/>
                <a:ea typeface="Zen Kaku Gothic New"/>
                <a:cs typeface="Zen Kaku Gothic New"/>
              </a:rPr>
              <a:t>三麻　東三局　南家　5巡目　50000点持ち　東家から東（1枚目）</a:t>
            </a:r>
          </a:p>
        </p:txBody>
      </p:sp>
      <p:sp>
        <p:nvSpPr>
          <p:cNvPr id="4" name="Rectangle 3"/>
          <p:cNvSpPr/>
          <p:nvPr/>
        </p:nvSpPr>
        <p:spPr>
          <a:xfrm>
            <a:off x="822960" y="1655064"/>
            <a:ext cx="5724144" cy="1300217"/>
          </a:xfrm>
          <a:prstGeom prst="rect">
            <a:avLst/>
          </a:prstGeom>
          <a:solidFill>
            <a:srgbClr val="FFFFFF"/>
          </a:solidFill>
          <a:ln w="12700">
            <a:solidFill>
              <a:srgbClr val="C9C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4.png"/>
          <p:cNvPicPr>
            <a:picLocks noChangeAspect="1"/>
          </p:cNvPicPr>
          <p:nvPr/>
        </p:nvPicPr>
        <p:blipFill>
          <a:blip r:embed="rId2"/>
          <a:stretch>
            <a:fillRect/>
          </a:stretch>
        </p:blipFill>
        <p:spPr>
          <a:xfrm>
            <a:off x="987552" y="1783080"/>
            <a:ext cx="5394960" cy="1044185"/>
          </a:xfrm>
          <a:prstGeom prst="rect">
            <a:avLst/>
          </a:prstGeom>
        </p:spPr>
      </p:pic>
      <p:sp>
        <p:nvSpPr>
          <p:cNvPr id="6" name="Rectangle 5"/>
          <p:cNvSpPr/>
          <p:nvPr/>
        </p:nvSpPr>
        <p:spPr>
          <a:xfrm>
            <a:off x="6995160" y="1783080"/>
            <a:ext cx="2560320" cy="658368"/>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83080"/>
            <a:ext cx="2560320" cy="658368"/>
          </a:xfrm>
          <a:prstGeom prst="rect">
            <a:avLst/>
          </a:prstGeom>
          <a:noFill/>
        </p:spPr>
        <p:txBody>
          <a:bodyPr wrap="square" anchor="ctr" lIns="0" rIns="0" tIns="0" bIns="0">
            <a:spAutoFit/>
          </a:bodyPr>
          <a:lstStyle/>
          <a:p>
            <a:pPr algn="ctr">
              <a:lnSpc>
                <a:spcPct val="100000"/>
              </a:lnSpc>
              <a:spcAft>
                <a:spcPts val="0"/>
              </a:spcAft>
            </a:pPr>
            <a:r>
              <a:rPr sz="2800" b="0">
                <a:solidFill>
                  <a:srgbClr val="FFFFFF"/>
                </a:solidFill>
                <a:latin typeface="Dela Gothic One"/>
                <a:ea typeface="Dela Gothic One"/>
                <a:cs typeface="Dela Gothic One"/>
              </a:rPr>
              <a:t>鉄板でする</a:t>
            </a:r>
          </a:p>
        </p:txBody>
      </p:sp>
      <p:sp>
        <p:nvSpPr>
          <p:cNvPr id="8" name="TextBox 7"/>
          <p:cNvSpPr txBox="1"/>
          <p:nvPr/>
        </p:nvSpPr>
        <p:spPr>
          <a:xfrm>
            <a:off x="6995160" y="2606040"/>
            <a:ext cx="4480560" cy="822960"/>
          </a:xfrm>
          <a:prstGeom prst="rect">
            <a:avLst/>
          </a:prstGeom>
          <a:noFill/>
        </p:spPr>
        <p:txBody>
          <a:bodyPr wrap="square" anchor="t" lIns="0" rIns="0" tIns="0" bIns="0">
            <a:spAutoFit/>
          </a:bodyPr>
          <a:lstStyle/>
          <a:p>
            <a:pPr algn="l">
              <a:lnSpc>
                <a:spcPct val="145000"/>
              </a:lnSpc>
              <a:spcAft>
                <a:spcPts val="600"/>
              </a:spcAft>
            </a:pPr>
            <a:r>
              <a:rPr sz="1500" b="0">
                <a:solidFill>
                  <a:srgbClr val="4E5F57"/>
                </a:solidFill>
                <a:latin typeface="Zen Kaku Gothic New"/>
                <a:ea typeface="Zen Kaku Gothic New"/>
                <a:cs typeface="Zen Kaku Gothic New"/>
              </a:rPr>
              <a:t>③-1 との違いは、赤5索が確実に使えること</a:t>
            </a:r>
          </a:p>
        </p:txBody>
      </p:sp>
      <p:sp>
        <p:nvSpPr>
          <p:cNvPr id="9" name="TextBox 8"/>
          <p:cNvSpPr txBox="1"/>
          <p:nvPr/>
        </p:nvSpPr>
        <p:spPr>
          <a:xfrm>
            <a:off x="822960" y="3246120"/>
            <a:ext cx="6035040" cy="3108960"/>
          </a:xfrm>
          <a:prstGeom prst="rect">
            <a:avLst/>
          </a:prstGeom>
          <a:noFill/>
        </p:spPr>
        <p:txBody>
          <a:bodyPr wrap="square" anchor="t" lIns="0" rIns="0" tIns="0" bIns="0">
            <a:spAutoFit/>
          </a:bodyPr>
          <a:lstStyle/>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③-1と同じく4ブロックだが、異なるのは赤5索が確実に使え、5ブロック目は四連形のピンズで作れそうな良い形になっていること。</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これだけの好材料で跳満も見えるなら、点棒状況関係なく攻める一手。</a:t>
            </a:r>
          </a:p>
          <a:p>
            <a:pPr algn="l">
              <a:lnSpc>
                <a:spcPct val="150000"/>
              </a:lnSpc>
              <a:spcAft>
                <a:spcPts val="600"/>
              </a:spcAft>
            </a:pPr>
            <a:r>
              <a:rPr sz="869" b="0">
                <a:solidFill>
                  <a:srgbClr val="C23B1E"/>
                </a:solidFill>
                <a:latin typeface="Zen Kaku Gothic New"/>
                <a:ea typeface="Zen Kaku Gothic New"/>
                <a:cs typeface="Zen Kaku Gothic New"/>
              </a:rPr>
              <a:t>■  </a:t>
            </a:r>
            <a:r>
              <a:rPr sz="1450" b="0">
                <a:solidFill>
                  <a:srgbClr val="1B2A24"/>
                </a:solidFill>
                <a:latin typeface="Zen Kaku Gothic New"/>
                <a:ea typeface="Zen Kaku Gothic New"/>
                <a:cs typeface="Zen Kaku Gothic New"/>
              </a:rPr>
              <a:t>危惧しているシャンポン待ちへの変化は②⑤の6枚、両面以上は①③④⑥の14枚。②ならまだ出やすいので、ピンズは5種17枚が嬉しい変化となる。⑦もターツ不足解消の牌なので、良形変化するまでは持っておく。</a:t>
            </a:r>
          </a:p>
        </p:txBody>
      </p:sp>
      <p:sp>
        <p:nvSpPr>
          <p:cNvPr id="10" name="Rectangle 9"/>
          <p:cNvSpPr/>
          <p:nvPr/>
        </p:nvSpPr>
        <p:spPr>
          <a:xfrm>
            <a:off x="6995160" y="3657600"/>
            <a:ext cx="4434840" cy="2514600"/>
          </a:xfrm>
          <a:prstGeom prst="rect">
            <a:avLst/>
          </a:prstGeom>
          <a:solidFill>
            <a:srgbClr val="E3E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3657600"/>
            <a:ext cx="73152" cy="2514600"/>
          </a:xfrm>
          <a:prstGeom prst="rect">
            <a:avLst/>
          </a:prstGeom>
          <a:solidFill>
            <a:srgbClr val="C2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794760"/>
            <a:ext cx="3931920" cy="2240280"/>
          </a:xfrm>
          <a:prstGeom prst="rect">
            <a:avLst/>
          </a:prstGeom>
          <a:noFill/>
        </p:spPr>
        <p:txBody>
          <a:bodyPr wrap="square" anchor="ctr" lIns="0" rIns="0" tIns="0" bIns="0">
            <a:spAutoFit/>
          </a:bodyPr>
          <a:lstStyle/>
          <a:p>
            <a:pPr algn="l">
              <a:lnSpc>
                <a:spcPct val="155000"/>
              </a:lnSpc>
              <a:spcAft>
                <a:spcPts val="600"/>
              </a:spcAft>
            </a:pPr>
            <a:r>
              <a:rPr sz="1700" b="1">
                <a:solidFill>
                  <a:srgbClr val="1B2A24"/>
                </a:solidFill>
                <a:latin typeface="Zen Kaku Gothic New"/>
                <a:ea typeface="Zen Kaku Gothic New"/>
                <a:cs typeface="Zen Kaku Gothic New"/>
              </a:rPr>
              <a:t>打点があり、愚形でないなら全ツッパ！</a:t>
            </a:r>
          </a:p>
        </p:txBody>
      </p:sp>
      <p:sp>
        <p:nvSpPr>
          <p:cNvPr id="13" name="TextBox 12"/>
          <p:cNvSpPr txBox="1"/>
          <p:nvPr/>
        </p:nvSpPr>
        <p:spPr>
          <a:xfrm>
            <a:off x="8899855" y="6355080"/>
            <a:ext cx="2834640" cy="274320"/>
          </a:xfrm>
          <a:prstGeom prst="rect">
            <a:avLst/>
          </a:prstGeom>
          <a:noFill/>
        </p:spPr>
        <p:txBody>
          <a:bodyPr wrap="square" anchor="t" lIns="0" rIns="0" tIns="0" bIns="0">
            <a:spAutoFit/>
          </a:bodyPr>
          <a:lstStyle/>
          <a:p>
            <a:pPr algn="r">
              <a:lnSpc>
                <a:spcPct val="145000"/>
              </a:lnSpc>
              <a:spcAft>
                <a:spcPts val="600"/>
              </a:spcAft>
            </a:pPr>
            <a:r>
              <a:rPr sz="1100" b="0">
                <a:solidFill>
                  <a:srgbClr val="4E5F57"/>
                </a:solidFill>
                <a:latin typeface="Zen Kaku Gothic New"/>
                <a:ea typeface="Zen Kaku Gothic New"/>
                <a:cs typeface="Zen Kaku Gothic New"/>
              </a:rPr>
              <a:t>おまけ・解答　</a:t>
            </a:r>
            <a:r>
              <a:rPr sz="1100" b="1">
                <a:solidFill>
                  <a:srgbClr val="4E5F57"/>
                </a:solidFill>
                <a:latin typeface="Zen Kaku Gothic New"/>
                <a:ea typeface="Zen Kaku Gothic New"/>
                <a:cs typeface="Zen Kaku Gothic New"/>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